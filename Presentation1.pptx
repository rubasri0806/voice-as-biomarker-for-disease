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1" r:id="rId3"/>
    <p:sldId id="258" r:id="rId4"/>
    <p:sldId id="273" r:id="rId5"/>
    <p:sldId id="260" r:id="rId6"/>
    <p:sldId id="261" r:id="rId7"/>
    <p:sldId id="259" r:id="rId8"/>
    <p:sldId id="277" r:id="rId9"/>
    <p:sldId id="274" r:id="rId10"/>
    <p:sldId id="278" r:id="rId11"/>
    <p:sldId id="264" r:id="rId12"/>
    <p:sldId id="265" r:id="rId13"/>
    <p:sldId id="266" r:id="rId14"/>
    <p:sldId id="26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65EF8A-5637-43DB-9DCD-40328AD18D93}"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65EF8A-5637-43DB-9DCD-40328AD18D93}"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65EF8A-5637-43DB-9DCD-40328AD18D93}"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B65EF8A-5637-43DB-9DCD-40328AD18D93}"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B65EF8A-5637-43DB-9DCD-40328AD18D93}"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65EF8A-5637-43DB-9DCD-40328AD18D93}"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65EF8A-5637-43DB-9DCD-40328AD18D93}"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65EF8A-5637-43DB-9DCD-40328AD18D93}"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65EF8A-5637-43DB-9DCD-40328AD18D93}"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65EF8A-5637-43DB-9DCD-40328AD18D93}"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65EF8A-5637-43DB-9DCD-40328AD18D93}"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1A6E2-9516-4F4F-8A1E-5D2A086AC93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65EF8A-5637-43DB-9DCD-40328AD18D93}"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C1A6E2-9516-4F4F-8A1E-5D2A086AC93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7;p1"/>
          <p:cNvPicPr preferRelativeResize="0"/>
          <p:nvPr/>
        </p:nvPicPr>
        <p:blipFill rotWithShape="1">
          <a:blip r:embed="rId2">
            <a:alphaModFix/>
          </a:blip>
          <a:srcRect/>
          <a:stretch/>
        </p:blipFill>
        <p:spPr>
          <a:xfrm>
            <a:off x="914400" y="228600"/>
            <a:ext cx="7543800" cy="1636266"/>
          </a:xfrm>
          <a:prstGeom prst="rect">
            <a:avLst/>
          </a:prstGeom>
          <a:noFill/>
          <a:ln>
            <a:noFill/>
          </a:ln>
        </p:spPr>
      </p:pic>
      <p:sp>
        <p:nvSpPr>
          <p:cNvPr id="3" name="Rectangle 2"/>
          <p:cNvSpPr/>
          <p:nvPr/>
        </p:nvSpPr>
        <p:spPr>
          <a:xfrm>
            <a:off x="0" y="1981200"/>
            <a:ext cx="9144000" cy="584775"/>
          </a:xfrm>
          <a:prstGeom prst="rect">
            <a:avLst/>
          </a:prstGeom>
        </p:spPr>
        <p:txBody>
          <a:bodyPr wrap="square">
            <a:spAutoFit/>
          </a:bodyPr>
          <a:lstStyle/>
          <a:p>
            <a:pPr algn="ctr"/>
            <a:r>
              <a:rPr lang="en-US" sz="3200" b="1" dirty="0" smtClean="0">
                <a:solidFill>
                  <a:srgbClr val="C00000"/>
                </a:solidFill>
                <a:latin typeface="Times New Roman" pitchFamily="18" charset="0"/>
                <a:cs typeface="Times New Roman" pitchFamily="18" charset="0"/>
              </a:rPr>
              <a:t>Voice as Biomarkers for Disease </a:t>
            </a:r>
            <a:endParaRPr lang="en-US" sz="3200" dirty="0"/>
          </a:p>
        </p:txBody>
      </p:sp>
      <p:sp>
        <p:nvSpPr>
          <p:cNvPr id="6" name="Rectangle 5"/>
          <p:cNvSpPr/>
          <p:nvPr/>
        </p:nvSpPr>
        <p:spPr>
          <a:xfrm>
            <a:off x="0" y="2895600"/>
            <a:ext cx="9144000" cy="3139321"/>
          </a:xfrm>
          <a:prstGeom prst="rect">
            <a:avLst/>
          </a:prstGeom>
        </p:spPr>
        <p:txBody>
          <a:bodyPr wrap="square">
            <a:spAutoFit/>
          </a:bodyPr>
          <a:lstStyle/>
          <a:p>
            <a:pPr algn="ctr"/>
            <a:r>
              <a:rPr lang="en-US" b="1" dirty="0" err="1" smtClean="0">
                <a:latin typeface="Times New Roman" pitchFamily="18" charset="0"/>
                <a:cs typeface="Times New Roman" pitchFamily="18" charset="0"/>
              </a:rPr>
              <a:t>K.Rubasri</a:t>
            </a:r>
            <a:endParaRPr lang="en-US" b="1" dirty="0" smtClean="0">
              <a:latin typeface="Times New Roman" pitchFamily="18" charset="0"/>
              <a:cs typeface="Times New Roman" pitchFamily="18" charset="0"/>
            </a:endParaRPr>
          </a:p>
          <a:p>
            <a:pPr algn="ctr"/>
            <a:r>
              <a:rPr lang="en-US"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E0524004)</a:t>
            </a:r>
            <a:endParaRPr lang="en-US" b="1" dirty="0" smtClean="0">
              <a:latin typeface="Times New Roman" pitchFamily="18" charset="0"/>
              <a:cs typeface="Times New Roman" pitchFamily="18" charset="0"/>
            </a:endParaRPr>
          </a:p>
          <a:p>
            <a:pPr algn="ctr"/>
            <a:r>
              <a:rPr lang="en-US" dirty="0" err="1" smtClean="0">
                <a:latin typeface="Times New Roman" pitchFamily="18" charset="0"/>
                <a:cs typeface="Times New Roman" pitchFamily="18" charset="0"/>
              </a:rPr>
              <a:t>B.Tech</a:t>
            </a:r>
            <a:r>
              <a:rPr lang="en-US" dirty="0" smtClean="0">
                <a:latin typeface="Times New Roman" pitchFamily="18" charset="0"/>
                <a:cs typeface="Times New Roman" pitchFamily="18" charset="0"/>
              </a:rPr>
              <a:t> Computer Science and Medical Engineering(AIDA)</a:t>
            </a:r>
          </a:p>
          <a:p>
            <a:pPr algn="ctr"/>
            <a:r>
              <a:rPr lang="en-US" dirty="0" smtClean="0">
                <a:latin typeface="Times New Roman" pitchFamily="18" charset="0"/>
                <a:cs typeface="Times New Roman" pitchFamily="18" charset="0"/>
              </a:rPr>
              <a:t>SRET</a:t>
            </a:r>
          </a:p>
          <a:p>
            <a:pPr algn="ctr"/>
            <a:endParaRPr lang="en-US" dirty="0" smtClean="0">
              <a:latin typeface="Times New Roman" pitchFamily="18" charset="0"/>
              <a:cs typeface="Times New Roman" pitchFamily="18" charset="0"/>
            </a:endParaRPr>
          </a:p>
          <a:p>
            <a:pPr algn="ctr"/>
            <a:r>
              <a:rPr lang="en-US" b="1" dirty="0" smtClean="0">
                <a:latin typeface="Times New Roman" pitchFamily="18" charset="0"/>
                <a:cs typeface="Times New Roman" pitchFamily="18" charset="0"/>
              </a:rPr>
              <a:t>Under the guidance of </a:t>
            </a:r>
          </a:p>
          <a:p>
            <a:pPr algn="ctr"/>
            <a:r>
              <a:rPr lang="en-US" b="1" dirty="0" smtClean="0">
                <a:latin typeface="Times New Roman" pitchFamily="18" charset="0"/>
                <a:cs typeface="Times New Roman" pitchFamily="18" charset="0"/>
              </a:rPr>
              <a:t>Dr. A.K. </a:t>
            </a:r>
            <a:r>
              <a:rPr lang="en-US" b="1" dirty="0" err="1" smtClean="0">
                <a:latin typeface="Times New Roman" pitchFamily="18" charset="0"/>
                <a:cs typeface="Times New Roman" pitchFamily="18" charset="0"/>
              </a:rPr>
              <a:t>Jayanthy</a:t>
            </a:r>
            <a:endParaRPr lang="en-US" b="1" dirty="0" smtClean="0">
              <a:latin typeface="Times New Roman" pitchFamily="18" charset="0"/>
              <a:cs typeface="Times New Roman" pitchFamily="18" charset="0"/>
            </a:endParaRPr>
          </a:p>
          <a:p>
            <a:pPr algn="ctr"/>
            <a:r>
              <a:rPr lang="en-US" dirty="0" smtClean="0">
                <a:latin typeface="Times New Roman" pitchFamily="18" charset="0"/>
                <a:cs typeface="Times New Roman" pitchFamily="18" charset="0"/>
              </a:rPr>
              <a:t>Head Of The Department</a:t>
            </a:r>
          </a:p>
          <a:p>
            <a:pPr algn="ctr"/>
            <a:r>
              <a:rPr lang="en-US" dirty="0" smtClean="0">
                <a:latin typeface="Times New Roman" pitchFamily="18" charset="0"/>
                <a:cs typeface="Times New Roman" pitchFamily="18" charset="0"/>
              </a:rPr>
              <a:t>Medical Engineering</a:t>
            </a:r>
          </a:p>
          <a:p>
            <a:pPr algn="ctr"/>
            <a:r>
              <a:rPr lang="en-US" dirty="0" smtClean="0">
                <a:latin typeface="Times New Roman" pitchFamily="18" charset="0"/>
                <a:cs typeface="Times New Roman" pitchFamily="18" charset="0"/>
              </a:rPr>
              <a:t>SRET </a:t>
            </a:r>
          </a:p>
          <a:p>
            <a:pPr algn="ctr"/>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304800"/>
            <a:ext cx="8991600" cy="584775"/>
          </a:xfrm>
          <a:prstGeom prst="rect">
            <a:avLst/>
          </a:prstGeom>
        </p:spPr>
        <p:txBody>
          <a:bodyPr wrap="square">
            <a:spAutoFit/>
          </a:bodyPr>
          <a:lstStyle/>
          <a:p>
            <a:pPr algn="ctr"/>
            <a:r>
              <a:rPr lang="en-US" sz="3200" b="1" u="sng" dirty="0" smtClean="0">
                <a:solidFill>
                  <a:srgbClr val="C00000"/>
                </a:solidFill>
                <a:latin typeface="Times New Roman" pitchFamily="18" charset="0"/>
                <a:cs typeface="Times New Roman" pitchFamily="18" charset="0"/>
              </a:rPr>
              <a:t>CONTENT</a:t>
            </a:r>
            <a:endParaRPr lang="en-US" sz="2400" b="1" u="sng" dirty="0">
              <a:solidFill>
                <a:srgbClr val="C00000"/>
              </a:solidFill>
              <a:latin typeface="Times New Roman" pitchFamily="18" charset="0"/>
              <a:cs typeface="Times New Roman" pitchFamily="18" charset="0"/>
            </a:endParaRPr>
          </a:p>
        </p:txBody>
      </p:sp>
      <p:sp>
        <p:nvSpPr>
          <p:cNvPr id="3" name="Rectangle 2"/>
          <p:cNvSpPr/>
          <p:nvPr/>
        </p:nvSpPr>
        <p:spPr>
          <a:xfrm>
            <a:off x="381000" y="1295400"/>
            <a:ext cx="8458200" cy="5570756"/>
          </a:xfrm>
          <a:prstGeom prst="rect">
            <a:avLst/>
          </a:prstGeom>
        </p:spPr>
        <p:txBody>
          <a:bodyPr wrap="square">
            <a:spAutoFit/>
          </a:bodyPr>
          <a:lstStyle/>
          <a:p>
            <a:pPr>
              <a:buFont typeface="Wingdings" pitchFamily="2" charset="2"/>
              <a:buChar char="ü"/>
            </a:pPr>
            <a:r>
              <a:rPr lang="en-US" sz="2800" dirty="0" smtClean="0">
                <a:solidFill>
                  <a:srgbClr val="C00000"/>
                </a:solidFill>
                <a:latin typeface="Times New Roman" pitchFamily="18" charset="0"/>
                <a:cs typeface="Times New Roman" pitchFamily="18" charset="0"/>
              </a:rPr>
              <a:t>Introduction</a:t>
            </a:r>
          </a:p>
          <a:p>
            <a:pPr>
              <a:buFont typeface="Wingdings" pitchFamily="2" charset="2"/>
              <a:buChar char="ü"/>
            </a:pPr>
            <a:r>
              <a:rPr lang="en-US" sz="2800" dirty="0" smtClean="0">
                <a:solidFill>
                  <a:srgbClr val="C00000"/>
                </a:solidFill>
                <a:latin typeface="Times New Roman" pitchFamily="18" charset="0"/>
                <a:cs typeface="Times New Roman" pitchFamily="18" charset="0"/>
              </a:rPr>
              <a:t>Literature Review</a:t>
            </a:r>
          </a:p>
          <a:p>
            <a:pPr>
              <a:buFont typeface="Wingdings" pitchFamily="2" charset="2"/>
              <a:buChar char="ü"/>
            </a:pPr>
            <a:r>
              <a:rPr lang="en-US" sz="2800" dirty="0" smtClean="0">
                <a:solidFill>
                  <a:srgbClr val="C00000"/>
                </a:solidFill>
                <a:latin typeface="Times New Roman" pitchFamily="18" charset="0"/>
                <a:cs typeface="Times New Roman" pitchFamily="18" charset="0"/>
              </a:rPr>
              <a:t>Problem Statement</a:t>
            </a:r>
          </a:p>
          <a:p>
            <a:pPr>
              <a:buFont typeface="Wingdings" pitchFamily="2" charset="2"/>
              <a:buChar char="ü"/>
            </a:pPr>
            <a:r>
              <a:rPr lang="en-US" sz="2800" dirty="0" smtClean="0">
                <a:solidFill>
                  <a:srgbClr val="C00000"/>
                </a:solidFill>
                <a:latin typeface="Times New Roman" pitchFamily="18" charset="0"/>
                <a:cs typeface="Times New Roman" pitchFamily="18" charset="0"/>
              </a:rPr>
              <a:t>Objectives</a:t>
            </a:r>
          </a:p>
          <a:p>
            <a:pPr>
              <a:buFont typeface="Wingdings" pitchFamily="2" charset="2"/>
              <a:buChar char="ü"/>
            </a:pPr>
            <a:r>
              <a:rPr lang="en-US" sz="2800" dirty="0" smtClean="0">
                <a:solidFill>
                  <a:srgbClr val="C00000"/>
                </a:solidFill>
                <a:latin typeface="Times New Roman" pitchFamily="18" charset="0"/>
                <a:cs typeface="Times New Roman" pitchFamily="18" charset="0"/>
              </a:rPr>
              <a:t>System Design</a:t>
            </a:r>
          </a:p>
          <a:p>
            <a:pPr>
              <a:buFont typeface="Wingdings" pitchFamily="2" charset="2"/>
              <a:buChar char="ü"/>
            </a:pPr>
            <a:r>
              <a:rPr lang="en-US" sz="2800" dirty="0" smtClean="0">
                <a:solidFill>
                  <a:srgbClr val="C00000"/>
                </a:solidFill>
                <a:latin typeface="Times New Roman" pitchFamily="18" charset="0"/>
                <a:cs typeface="Times New Roman" pitchFamily="18" charset="0"/>
              </a:rPr>
              <a:t>Methodology</a:t>
            </a:r>
          </a:p>
          <a:p>
            <a:pPr>
              <a:buFont typeface="Wingdings" pitchFamily="2" charset="2"/>
              <a:buChar char="ü"/>
            </a:pPr>
            <a:r>
              <a:rPr lang="en-US" sz="2800" dirty="0" smtClean="0">
                <a:solidFill>
                  <a:srgbClr val="C00000"/>
                </a:solidFill>
                <a:latin typeface="Times New Roman" pitchFamily="18" charset="0"/>
                <a:cs typeface="Times New Roman" pitchFamily="18" charset="0"/>
              </a:rPr>
              <a:t>Results &amp; Discussions</a:t>
            </a:r>
          </a:p>
          <a:p>
            <a:pPr>
              <a:buFont typeface="Wingdings" pitchFamily="2" charset="2"/>
              <a:buChar char="ü"/>
            </a:pPr>
            <a:r>
              <a:rPr lang="en-US" sz="2800" dirty="0" smtClean="0">
                <a:solidFill>
                  <a:srgbClr val="C00000"/>
                </a:solidFill>
                <a:latin typeface="Times New Roman" pitchFamily="18" charset="0"/>
                <a:cs typeface="Times New Roman" pitchFamily="18" charset="0"/>
              </a:rPr>
              <a:t>Conclusion</a:t>
            </a:r>
          </a:p>
          <a:p>
            <a:pPr>
              <a:buFont typeface="Wingdings" pitchFamily="2" charset="2"/>
              <a:buChar char="ü"/>
            </a:pPr>
            <a:r>
              <a:rPr lang="en-US" sz="2800" dirty="0" smtClean="0">
                <a:solidFill>
                  <a:srgbClr val="C00000"/>
                </a:solidFill>
                <a:latin typeface="Times New Roman" pitchFamily="18" charset="0"/>
                <a:cs typeface="Times New Roman" pitchFamily="18" charset="0"/>
              </a:rPr>
              <a:t>Future Work</a:t>
            </a:r>
          </a:p>
          <a:p>
            <a:endParaRPr lang="en-US" sz="2800" dirty="0" smtClean="0">
              <a:solidFill>
                <a:srgbClr val="C00000"/>
              </a:solidFill>
              <a:latin typeface="Times New Roman" pitchFamily="18" charset="0"/>
              <a:cs typeface="Times New Roman" pitchFamily="18" charset="0"/>
            </a:endParaRPr>
          </a:p>
          <a:p>
            <a:pPr>
              <a:buFont typeface="Wingdings" pitchFamily="2" charset="2"/>
              <a:buChar char="ü"/>
            </a:pPr>
            <a:endParaRPr lang="en-US" sz="2800" dirty="0" smtClean="0">
              <a:solidFill>
                <a:srgbClr val="C00000"/>
              </a:solidFill>
              <a:latin typeface="Times New Roman" pitchFamily="18" charset="0"/>
              <a:cs typeface="Times New Roman" pitchFamily="18" charset="0"/>
            </a:endParaRPr>
          </a:p>
          <a:p>
            <a:pPr>
              <a:buFont typeface="Wingdings" pitchFamily="2" charset="2"/>
              <a:buChar char="ü"/>
            </a:pPr>
            <a:endParaRPr lang="en-US" sz="2800" dirty="0" smtClean="0">
              <a:solidFill>
                <a:srgbClr val="C00000"/>
              </a:solidFill>
              <a:latin typeface="Times New Roman" pitchFamily="18" charset="0"/>
              <a:cs typeface="Times New Roman" pitchFamily="18" charset="0"/>
            </a:endParaRPr>
          </a:p>
          <a:p>
            <a:pPr>
              <a:buFont typeface="Wingdings" pitchFamily="2" charset="2"/>
              <a:buChar char="ü"/>
            </a:pPr>
            <a:endParaRPr lang="en-US" sz="20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534400" cy="584775"/>
          </a:xfrm>
          <a:prstGeom prst="rect">
            <a:avLst/>
          </a:prstGeom>
        </p:spPr>
        <p:txBody>
          <a:bodyPr wrap="square">
            <a:spAutoFit/>
          </a:bodyPr>
          <a:lstStyle/>
          <a:p>
            <a:r>
              <a:rPr lang="en-US" sz="3200" b="1" u="sng" dirty="0" smtClean="0">
                <a:solidFill>
                  <a:srgbClr val="C00000"/>
                </a:solidFill>
                <a:latin typeface="Times New Roman" pitchFamily="18" charset="0"/>
                <a:cs typeface="Times New Roman" pitchFamily="18" charset="0"/>
              </a:rPr>
              <a:t>Introduction</a:t>
            </a:r>
            <a:endParaRPr lang="en-US" sz="2400" b="1" u="sng" dirty="0">
              <a:solidFill>
                <a:srgbClr val="C00000"/>
              </a:solidFill>
              <a:latin typeface="Times New Roman" pitchFamily="18" charset="0"/>
              <a:cs typeface="Times New Roman" pitchFamily="18" charset="0"/>
            </a:endParaRPr>
          </a:p>
        </p:txBody>
      </p:sp>
      <p:sp>
        <p:nvSpPr>
          <p:cNvPr id="3" name="Rectangle 2"/>
          <p:cNvSpPr/>
          <p:nvPr/>
        </p:nvSpPr>
        <p:spPr>
          <a:xfrm>
            <a:off x="457200" y="1143000"/>
            <a:ext cx="8534400" cy="4401205"/>
          </a:xfrm>
          <a:prstGeom prst="rect">
            <a:avLst/>
          </a:prstGeom>
        </p:spPr>
        <p:txBody>
          <a:bodyPr wrap="square">
            <a:spAutoFit/>
          </a:bodyPr>
          <a:lstStyle/>
          <a:p>
            <a:pPr>
              <a:buFont typeface="Arial" pitchFamily="34" charset="0"/>
              <a:buChar char="•"/>
            </a:pPr>
            <a:r>
              <a:rPr lang="en-US" sz="2800" dirty="0" smtClean="0"/>
              <a:t> </a:t>
            </a:r>
            <a:r>
              <a:rPr lang="en-US" sz="2800" dirty="0" smtClean="0">
                <a:latin typeface="Times New Roman" pitchFamily="18" charset="0"/>
                <a:cs typeface="Times New Roman" pitchFamily="18" charset="0"/>
              </a:rPr>
              <a:t>Non-invasive health monitoring system</a:t>
            </a:r>
          </a:p>
          <a:p>
            <a:endParaRPr lang="en-US" sz="2800" dirty="0" smtClean="0">
              <a:latin typeface="Times New Roman" pitchFamily="18" charset="0"/>
              <a:cs typeface="Times New Roman" pitchFamily="18" charset="0"/>
            </a:endParaRPr>
          </a:p>
          <a:p>
            <a:pPr>
              <a:buFont typeface="Arial" pitchFamily="34" charset="0"/>
              <a:buChar char="•"/>
            </a:pPr>
            <a:r>
              <a:rPr lang="en-US" sz="2800" dirty="0" smtClean="0">
                <a:latin typeface="Times New Roman" pitchFamily="18" charset="0"/>
                <a:cs typeface="Times New Roman" pitchFamily="18" charset="0"/>
              </a:rPr>
              <a:t> Uses voice and physiological parameters</a:t>
            </a:r>
          </a:p>
          <a:p>
            <a:endParaRPr lang="en-US" sz="2800" dirty="0" smtClean="0">
              <a:latin typeface="Times New Roman" pitchFamily="18" charset="0"/>
              <a:cs typeface="Times New Roman" pitchFamily="18" charset="0"/>
            </a:endParaRPr>
          </a:p>
          <a:p>
            <a:pPr>
              <a:buFont typeface="Arial" pitchFamily="34" charset="0"/>
              <a:buChar char="•"/>
            </a:pPr>
            <a:r>
              <a:rPr lang="en-US" sz="2800" dirty="0" smtClean="0">
                <a:latin typeface="Times New Roman" pitchFamily="18" charset="0"/>
                <a:cs typeface="Times New Roman" pitchFamily="18" charset="0"/>
              </a:rPr>
              <a:t> Detects potential health risk levels</a:t>
            </a:r>
          </a:p>
          <a:p>
            <a:endParaRPr lang="en-US" sz="2800" dirty="0" smtClean="0">
              <a:latin typeface="Times New Roman" pitchFamily="18" charset="0"/>
              <a:cs typeface="Times New Roman" pitchFamily="18" charset="0"/>
            </a:endParaRPr>
          </a:p>
          <a:p>
            <a:pPr>
              <a:buFont typeface="Arial" pitchFamily="34" charset="0"/>
              <a:buChar char="•"/>
            </a:pPr>
            <a:r>
              <a:rPr lang="en-US" sz="2800" dirty="0" smtClean="0">
                <a:latin typeface="Times New Roman" pitchFamily="18" charset="0"/>
                <a:cs typeface="Times New Roman" pitchFamily="18" charset="0"/>
              </a:rPr>
              <a:t> Designed using ESP32 microcontroller</a:t>
            </a:r>
          </a:p>
          <a:p>
            <a:endParaRPr lang="en-US" sz="2800" dirty="0" smtClean="0">
              <a:latin typeface="Times New Roman" pitchFamily="18" charset="0"/>
              <a:cs typeface="Times New Roman" pitchFamily="18" charset="0"/>
            </a:endParaRPr>
          </a:p>
          <a:p>
            <a:pPr>
              <a:buFont typeface="Arial" pitchFamily="34" charset="0"/>
              <a:buChar char="•"/>
            </a:pPr>
            <a:r>
              <a:rPr lang="en-US" sz="2800" dirty="0" smtClean="0">
                <a:latin typeface="Times New Roman" pitchFamily="18" charset="0"/>
                <a:cs typeface="Times New Roman" pitchFamily="18" charset="0"/>
              </a:rPr>
              <a:t>Suitable for wearable and portable applications</a:t>
            </a:r>
          </a:p>
          <a:p>
            <a:endParaRPr lang="en-US" sz="2800" dirty="0" smtClean="0">
              <a:latin typeface="Times New Roman" pitchFamily="18" charset="0"/>
              <a:cs typeface="Times New Roman" pitchFamily="18" charset="0"/>
            </a:endParaRPr>
          </a:p>
        </p:txBody>
      </p:sp>
      <p:sp>
        <p:nvSpPr>
          <p:cNvPr id="4" name="TextBox 3"/>
          <p:cNvSpPr txBox="1"/>
          <p:nvPr/>
        </p:nvSpPr>
        <p:spPr>
          <a:xfrm>
            <a:off x="8458200" y="6248400"/>
            <a:ext cx="990600" cy="381000"/>
          </a:xfrm>
          <a:prstGeom prst="rect">
            <a:avLst/>
          </a:prstGeom>
          <a:noFill/>
        </p:spPr>
        <p:txBody>
          <a:bodyPr wrap="square" rtlCol="0">
            <a:spAutoFit/>
          </a:bodyPr>
          <a:lstStyle/>
          <a:p>
            <a:r>
              <a:rPr lang="en-US" dirty="0" smtClean="0"/>
              <a:t>1</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0" y="990600"/>
          <a:ext cx="8610600" cy="5516880"/>
        </p:xfrm>
        <a:graphic>
          <a:graphicData uri="http://schemas.openxmlformats.org/drawingml/2006/table">
            <a:tbl>
              <a:tblPr firstRow="1" bandRow="1">
                <a:tableStyleId>{284E427A-3D55-4303-BF80-6455036E1DE7}</a:tableStyleId>
              </a:tblPr>
              <a:tblGrid>
                <a:gridCol w="774954"/>
                <a:gridCol w="2468372"/>
                <a:gridCol w="1664716"/>
                <a:gridCol w="1980438"/>
                <a:gridCol w="1722120"/>
              </a:tblGrid>
              <a:tr h="853977">
                <a:tc>
                  <a:txBody>
                    <a:bodyPr/>
                    <a:lstStyle/>
                    <a:p>
                      <a:pPr algn="ctr"/>
                      <a:r>
                        <a:rPr lang="en-US" dirty="0" smtClean="0"/>
                        <a:t>S.NO</a:t>
                      </a:r>
                      <a:endParaRPr lang="en-US" dirty="0"/>
                    </a:p>
                  </a:txBody>
                  <a:tcPr/>
                </a:tc>
                <a:tc>
                  <a:txBody>
                    <a:bodyPr/>
                    <a:lstStyle/>
                    <a:p>
                      <a:pPr algn="l"/>
                      <a:r>
                        <a:rPr lang="en-US" dirty="0" smtClean="0"/>
                        <a:t>PAPER TITLE &amp;</a:t>
                      </a:r>
                      <a:r>
                        <a:rPr lang="en-US" baseline="0" dirty="0" smtClean="0"/>
                        <a:t> </a:t>
                      </a:r>
                      <a:r>
                        <a:rPr lang="en-US" dirty="0" smtClean="0"/>
                        <a:t>YEAR</a:t>
                      </a:r>
                      <a:endParaRPr lang="en-US" dirty="0"/>
                    </a:p>
                  </a:txBody>
                  <a:tcPr/>
                </a:tc>
                <a:tc>
                  <a:txBody>
                    <a:bodyPr/>
                    <a:lstStyle/>
                    <a:p>
                      <a:r>
                        <a:rPr lang="en-US" dirty="0" smtClean="0"/>
                        <a:t>AUTHOR NAME</a:t>
                      </a:r>
                      <a:r>
                        <a:rPr lang="en-US" baseline="0" dirty="0" smtClean="0"/>
                        <a:t> &amp; PUBLICATION</a:t>
                      </a:r>
                      <a:endParaRPr lang="en-US" dirty="0"/>
                    </a:p>
                  </a:txBody>
                  <a:tcPr/>
                </a:tc>
                <a:tc>
                  <a:txBody>
                    <a:bodyPr/>
                    <a:lstStyle/>
                    <a:p>
                      <a:r>
                        <a:rPr lang="en-US" dirty="0" smtClean="0"/>
                        <a:t>TECHNIQUE/ METHODOLOGY</a:t>
                      </a:r>
                      <a:endParaRPr lang="en-US" dirty="0"/>
                    </a:p>
                  </a:txBody>
                  <a:tcPr/>
                </a:tc>
                <a:tc>
                  <a:txBody>
                    <a:bodyPr/>
                    <a:lstStyle/>
                    <a:p>
                      <a:r>
                        <a:rPr lang="en-US" dirty="0" smtClean="0"/>
                        <a:t>PARAMETERS ACQUIRED</a:t>
                      </a:r>
                      <a:endParaRPr lang="en-US" dirty="0"/>
                    </a:p>
                  </a:txBody>
                  <a:tcPr/>
                </a:tc>
              </a:tr>
              <a:tr h="1081704">
                <a:tc>
                  <a:txBody>
                    <a:bodyPr/>
                    <a:lstStyle/>
                    <a:p>
                      <a:pPr algn="ctr"/>
                      <a:r>
                        <a:rPr lang="en-US" dirty="0" smtClean="0"/>
                        <a:t>1.</a:t>
                      </a:r>
                      <a:endParaRPr lang="en-US" dirty="0"/>
                    </a:p>
                  </a:txBody>
                  <a:tcPr>
                    <a:solidFill>
                      <a:schemeClr val="accent2">
                        <a:lumMod val="40000"/>
                        <a:lumOff val="60000"/>
                      </a:schemeClr>
                    </a:solidFill>
                  </a:tcPr>
                </a:tc>
                <a:tc>
                  <a:txBody>
                    <a:bodyPr/>
                    <a:lstStyle/>
                    <a:p>
                      <a:r>
                        <a:rPr lang="en-US" sz="1400" b="0" kern="1200" baseline="0" dirty="0" smtClean="0">
                          <a:solidFill>
                            <a:schemeClr val="dk1"/>
                          </a:solidFill>
                          <a:latin typeface="Arial" pitchFamily="34" charset="0"/>
                          <a:ea typeface="+mn-ea"/>
                          <a:cs typeface="Arial" pitchFamily="34" charset="0"/>
                        </a:rPr>
                        <a:t>Voice for Health: The Use of Vocal</a:t>
                      </a:r>
                    </a:p>
                    <a:p>
                      <a:r>
                        <a:rPr lang="en-US" sz="1400" b="0" kern="1200" baseline="0" dirty="0" smtClean="0">
                          <a:solidFill>
                            <a:schemeClr val="dk1"/>
                          </a:solidFill>
                          <a:latin typeface="Arial" pitchFamily="34" charset="0"/>
                          <a:ea typeface="+mn-ea"/>
                          <a:cs typeface="Arial" pitchFamily="34" charset="0"/>
                        </a:rPr>
                        <a:t>Biomarkers from Research to Clinical</a:t>
                      </a:r>
                    </a:p>
                    <a:p>
                      <a:r>
                        <a:rPr lang="en-US" sz="1400" b="0" kern="1200" baseline="0" dirty="0" smtClean="0">
                          <a:solidFill>
                            <a:schemeClr val="dk1"/>
                          </a:solidFill>
                          <a:latin typeface="Arial" pitchFamily="34" charset="0"/>
                          <a:ea typeface="+mn-ea"/>
                          <a:cs typeface="Arial" pitchFamily="34" charset="0"/>
                        </a:rPr>
                        <a:t>Practice</a:t>
                      </a:r>
                      <a:endParaRPr lang="en-US" sz="1100" b="0" dirty="0">
                        <a:latin typeface="Arial" pitchFamily="34" charset="0"/>
                        <a:cs typeface="Arial" pitchFamily="34" charset="0"/>
                      </a:endParaRPr>
                    </a:p>
                  </a:txBody>
                  <a:tcPr>
                    <a:solidFill>
                      <a:schemeClr val="accent2">
                        <a:lumMod val="40000"/>
                        <a:lumOff val="60000"/>
                      </a:schemeClr>
                    </a:solidFill>
                  </a:tcPr>
                </a:tc>
                <a:tc>
                  <a:txBody>
                    <a:bodyPr/>
                    <a:lstStyle/>
                    <a:p>
                      <a:r>
                        <a:rPr lang="en-US" sz="1400" kern="1200" baseline="0" dirty="0" smtClean="0">
                          <a:solidFill>
                            <a:schemeClr val="dk1"/>
                          </a:solidFill>
                          <a:latin typeface="Arial" pitchFamily="34" charset="0"/>
                          <a:ea typeface="+mn-ea"/>
                          <a:cs typeface="Arial" pitchFamily="34" charset="0"/>
                        </a:rPr>
                        <a:t>Guy </a:t>
                      </a:r>
                      <a:r>
                        <a:rPr lang="en-US" sz="1400" kern="1200" baseline="0" dirty="0" err="1" smtClean="0">
                          <a:solidFill>
                            <a:schemeClr val="dk1"/>
                          </a:solidFill>
                          <a:latin typeface="Arial" pitchFamily="34" charset="0"/>
                          <a:ea typeface="+mn-ea"/>
                          <a:cs typeface="Arial" pitchFamily="34" charset="0"/>
                        </a:rPr>
                        <a:t>Fagherazzi</a:t>
                      </a:r>
                      <a:endParaRPr lang="en-US" sz="1400" kern="1200" baseline="0" dirty="0" smtClean="0">
                        <a:solidFill>
                          <a:schemeClr val="dk1"/>
                        </a:solidFill>
                        <a:latin typeface="Arial" pitchFamily="34" charset="0"/>
                        <a:ea typeface="+mn-ea"/>
                        <a:cs typeface="Arial" pitchFamily="34" charset="0"/>
                      </a:endParaRPr>
                    </a:p>
                    <a:p>
                      <a:r>
                        <a:rPr lang="en-US" sz="1400" kern="1200" baseline="0" dirty="0" smtClean="0">
                          <a:solidFill>
                            <a:schemeClr val="dk1"/>
                          </a:solidFill>
                          <a:latin typeface="Arial" pitchFamily="34" charset="0"/>
                          <a:ea typeface="+mn-ea"/>
                          <a:cs typeface="Arial" pitchFamily="34" charset="0"/>
                        </a:rPr>
                        <a:t>a </a:t>
                      </a:r>
                      <a:r>
                        <a:rPr lang="en-US" sz="1400" kern="1200" baseline="0" dirty="0" err="1" smtClean="0">
                          <a:solidFill>
                            <a:schemeClr val="dk1"/>
                          </a:solidFill>
                          <a:latin typeface="Arial" pitchFamily="34" charset="0"/>
                          <a:ea typeface="+mn-ea"/>
                          <a:cs typeface="Arial" pitchFamily="34" charset="0"/>
                        </a:rPr>
                        <a:t>Aurélie</a:t>
                      </a:r>
                      <a:r>
                        <a:rPr lang="en-US" sz="1400" kern="1200" baseline="0" dirty="0" smtClean="0">
                          <a:solidFill>
                            <a:schemeClr val="dk1"/>
                          </a:solidFill>
                          <a:latin typeface="Arial" pitchFamily="34" charset="0"/>
                          <a:ea typeface="+mn-ea"/>
                          <a:cs typeface="Arial" pitchFamily="34" charset="0"/>
                        </a:rPr>
                        <a:t> Fischer, et.al</a:t>
                      </a:r>
                    </a:p>
                    <a:p>
                      <a:r>
                        <a:rPr lang="en-US" sz="1400" kern="1200" baseline="0" dirty="0" smtClean="0">
                          <a:solidFill>
                            <a:schemeClr val="dk1"/>
                          </a:solidFill>
                          <a:latin typeface="Arial" pitchFamily="34" charset="0"/>
                          <a:ea typeface="+mn-ea"/>
                          <a:cs typeface="Arial" pitchFamily="34" charset="0"/>
                        </a:rPr>
                        <a:t>Digit </a:t>
                      </a:r>
                      <a:r>
                        <a:rPr lang="en-US" sz="1400" kern="1200" baseline="0" dirty="0" err="1" smtClean="0">
                          <a:solidFill>
                            <a:schemeClr val="dk1"/>
                          </a:solidFill>
                          <a:latin typeface="Arial" pitchFamily="34" charset="0"/>
                          <a:ea typeface="+mn-ea"/>
                          <a:cs typeface="Arial" pitchFamily="34" charset="0"/>
                        </a:rPr>
                        <a:t>Biomark</a:t>
                      </a:r>
                      <a:r>
                        <a:rPr lang="en-US" sz="1400" kern="1200" baseline="0" dirty="0" smtClean="0">
                          <a:solidFill>
                            <a:schemeClr val="dk1"/>
                          </a:solidFill>
                          <a:latin typeface="Arial" pitchFamily="34" charset="0"/>
                          <a:ea typeface="+mn-ea"/>
                          <a:cs typeface="Arial" pitchFamily="34" charset="0"/>
                        </a:rPr>
                        <a:t> 2021;5:78–88</a:t>
                      </a:r>
                      <a:endParaRPr lang="en-US" sz="1100" dirty="0">
                        <a:latin typeface="Arial" pitchFamily="34" charset="0"/>
                        <a:cs typeface="Arial" pitchFamily="34" charset="0"/>
                      </a:endParaRPr>
                    </a:p>
                  </a:txBody>
                  <a:tcPr>
                    <a:solidFill>
                      <a:schemeClr val="accent2">
                        <a:lumMod val="40000"/>
                        <a:lumOff val="60000"/>
                      </a:schemeClr>
                    </a:solidFill>
                  </a:tcPr>
                </a:tc>
                <a:tc>
                  <a:txBody>
                    <a:bodyPr/>
                    <a:lstStyle/>
                    <a:p>
                      <a:r>
                        <a:rPr lang="en-US" sz="1400" dirty="0" smtClean="0">
                          <a:latin typeface="Arial" pitchFamily="34" charset="0"/>
                          <a:cs typeface="Arial" pitchFamily="34" charset="0"/>
                        </a:rPr>
                        <a:t>Audio signal </a:t>
                      </a:r>
                      <a:r>
                        <a:rPr lang="en-US" sz="1400" dirty="0" err="1" smtClean="0">
                          <a:latin typeface="Arial" pitchFamily="34" charset="0"/>
                          <a:cs typeface="Arial" pitchFamily="34" charset="0"/>
                        </a:rPr>
                        <a:t>decompostion</a:t>
                      </a:r>
                      <a:endParaRPr lang="en-US" sz="1400" dirty="0">
                        <a:latin typeface="Arial" pitchFamily="34" charset="0"/>
                        <a:cs typeface="Arial" pitchFamily="34" charset="0"/>
                      </a:endParaRPr>
                    </a:p>
                  </a:txBody>
                  <a:tcPr>
                    <a:solidFill>
                      <a:schemeClr val="accent2">
                        <a:lumMod val="40000"/>
                        <a:lumOff val="60000"/>
                      </a:schemeClr>
                    </a:solidFill>
                  </a:tcPr>
                </a:tc>
                <a:tc>
                  <a:txBody>
                    <a:bodyPr/>
                    <a:lstStyle/>
                    <a:p>
                      <a:r>
                        <a:rPr lang="en-US" sz="1400" dirty="0" smtClean="0">
                          <a:latin typeface="Arial" pitchFamily="34" charset="0"/>
                          <a:cs typeface="Arial" pitchFamily="34" charset="0"/>
                        </a:rPr>
                        <a:t>Acoustic,</a:t>
                      </a:r>
                      <a:r>
                        <a:rPr lang="en-US" sz="1400" baseline="0" dirty="0" smtClean="0">
                          <a:latin typeface="Arial" pitchFamily="34" charset="0"/>
                          <a:cs typeface="Arial" pitchFamily="34" charset="0"/>
                        </a:rPr>
                        <a:t> Phonation, Speech timing, Linguistic</a:t>
                      </a:r>
                      <a:endParaRPr lang="en-US" sz="1400" dirty="0">
                        <a:latin typeface="Arial" pitchFamily="34" charset="0"/>
                        <a:cs typeface="Arial" pitchFamily="34" charset="0"/>
                      </a:endParaRPr>
                    </a:p>
                  </a:txBody>
                  <a:tcPr>
                    <a:solidFill>
                      <a:schemeClr val="accent2">
                        <a:lumMod val="40000"/>
                        <a:lumOff val="60000"/>
                      </a:schemeClr>
                    </a:solidFill>
                  </a:tcPr>
                </a:tc>
              </a:tr>
              <a:tr h="1480227">
                <a:tc>
                  <a:txBody>
                    <a:bodyPr/>
                    <a:lstStyle/>
                    <a:p>
                      <a:pPr algn="ctr"/>
                      <a:r>
                        <a:rPr lang="en-US" dirty="0" smtClean="0"/>
                        <a:t>2.</a:t>
                      </a:r>
                      <a:endParaRPr lang="en-US" dirty="0"/>
                    </a:p>
                  </a:txBody>
                  <a:tcPr>
                    <a:solidFill>
                      <a:schemeClr val="accent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Recommendations for Successful Implementation of the Use of Vocal Biomarkers for Remote Monitoring of COVID-19 and Long COVID in Clinical Practice and Research</a:t>
                      </a:r>
                      <a:endParaRPr lang="en-US" sz="1400" dirty="0">
                        <a:latin typeface="Arial" pitchFamily="34" charset="0"/>
                        <a:cs typeface="Arial" pitchFamily="34" charset="0"/>
                      </a:endParaRPr>
                    </a:p>
                  </a:txBody>
                  <a:tcPr>
                    <a:solidFill>
                      <a:schemeClr val="accent2">
                        <a:lumMod val="40000"/>
                        <a:lumOff val="60000"/>
                      </a:schemeClr>
                    </a:solidFill>
                  </a:tcPr>
                </a:tc>
                <a:tc>
                  <a:txBody>
                    <a:bodyPr/>
                    <a:lstStyle/>
                    <a:p>
                      <a:r>
                        <a:rPr lang="en-US" sz="1400" dirty="0" err="1" smtClean="0">
                          <a:latin typeface="Arial" pitchFamily="34" charset="0"/>
                          <a:cs typeface="Arial" pitchFamily="34" charset="0"/>
                        </a:rPr>
                        <a:t>Aurelie</a:t>
                      </a:r>
                      <a:r>
                        <a:rPr lang="en-US" sz="1400" dirty="0" smtClean="0">
                          <a:latin typeface="Arial" pitchFamily="34" charset="0"/>
                          <a:cs typeface="Arial" pitchFamily="34" charset="0"/>
                        </a:rPr>
                        <a:t> Fischer et.al</a:t>
                      </a:r>
                    </a:p>
                    <a:p>
                      <a:r>
                        <a:rPr lang="en-US" sz="1400" dirty="0" smtClean="0">
                          <a:latin typeface="Arial" pitchFamily="34" charset="0"/>
                          <a:cs typeface="Arial" pitchFamily="34" charset="0"/>
                        </a:rPr>
                        <a:t>Interact J Med Res 2022 | vol. 11 | </a:t>
                      </a:r>
                      <a:r>
                        <a:rPr lang="en-US" sz="1400" dirty="0" err="1" smtClean="0">
                          <a:latin typeface="Arial" pitchFamily="34" charset="0"/>
                          <a:cs typeface="Arial" pitchFamily="34" charset="0"/>
                        </a:rPr>
                        <a:t>iss</a:t>
                      </a:r>
                      <a:r>
                        <a:rPr lang="en-US" sz="1400" dirty="0" smtClean="0">
                          <a:latin typeface="Arial" pitchFamily="34" charset="0"/>
                          <a:cs typeface="Arial" pitchFamily="34" charset="0"/>
                        </a:rPr>
                        <a:t>. 2 | e40655 | p. 1</a:t>
                      </a:r>
                      <a:endParaRPr lang="en-US" sz="1400" dirty="0">
                        <a:latin typeface="Arial" pitchFamily="34" charset="0"/>
                        <a:cs typeface="Arial" pitchFamily="34" charset="0"/>
                      </a:endParaRPr>
                    </a:p>
                  </a:txBody>
                  <a:tcPr>
                    <a:solidFill>
                      <a:schemeClr val="accent2">
                        <a:lumMod val="40000"/>
                        <a:lumOff val="60000"/>
                      </a:schemeClr>
                    </a:solidFill>
                  </a:tcPr>
                </a:tc>
                <a:tc>
                  <a:txBody>
                    <a:bodyPr/>
                    <a:lstStyle/>
                    <a:p>
                      <a:r>
                        <a:rPr lang="en-US" sz="1400" dirty="0" smtClean="0">
                          <a:latin typeface="Arial" pitchFamily="34" charset="0"/>
                          <a:cs typeface="Arial" pitchFamily="34" charset="0"/>
                        </a:rPr>
                        <a:t>Mel Frequency </a:t>
                      </a:r>
                      <a:r>
                        <a:rPr lang="en-US" sz="1400" dirty="0" err="1" smtClean="0">
                          <a:latin typeface="Arial" pitchFamily="34" charset="0"/>
                          <a:cs typeface="Arial" pitchFamily="34" charset="0"/>
                        </a:rPr>
                        <a:t>Cepstral</a:t>
                      </a:r>
                      <a:r>
                        <a:rPr lang="en-US" sz="1400" baseline="0" dirty="0" smtClean="0">
                          <a:latin typeface="Arial" pitchFamily="34" charset="0"/>
                          <a:cs typeface="Arial" pitchFamily="34" charset="0"/>
                        </a:rPr>
                        <a:t> Coefficients(MFCC)</a:t>
                      </a:r>
                      <a:endParaRPr lang="en-US" sz="1400" dirty="0">
                        <a:latin typeface="Arial" pitchFamily="34" charset="0"/>
                        <a:cs typeface="Arial" pitchFamily="34" charset="0"/>
                      </a:endParaRPr>
                    </a:p>
                  </a:txBody>
                  <a:tcPr>
                    <a:solidFill>
                      <a:schemeClr val="accent2">
                        <a:lumMod val="40000"/>
                        <a:lumOff val="60000"/>
                      </a:schemeClr>
                    </a:solidFill>
                  </a:tcPr>
                </a:tc>
                <a:tc>
                  <a:txBody>
                    <a:bodyPr/>
                    <a:lstStyle/>
                    <a:p>
                      <a:r>
                        <a:rPr lang="en-US" sz="1400" dirty="0" smtClean="0">
                          <a:latin typeface="Arial" pitchFamily="34" charset="0"/>
                          <a:cs typeface="Arial" pitchFamily="34" charset="0"/>
                        </a:rPr>
                        <a:t>Spectral, </a:t>
                      </a:r>
                      <a:r>
                        <a:rPr lang="en-US" sz="1400" dirty="0" err="1" smtClean="0">
                          <a:latin typeface="Arial" pitchFamily="34" charset="0"/>
                          <a:cs typeface="Arial" pitchFamily="34" charset="0"/>
                        </a:rPr>
                        <a:t>Cepstral</a:t>
                      </a:r>
                      <a:r>
                        <a:rPr lang="en-US" sz="1400" dirty="0" smtClean="0">
                          <a:latin typeface="Arial" pitchFamily="34" charset="0"/>
                          <a:cs typeface="Arial" pitchFamily="34" charset="0"/>
                        </a:rPr>
                        <a:t>, Voice quality, speech pattern</a:t>
                      </a:r>
                      <a:endParaRPr lang="en-US" sz="1400" dirty="0">
                        <a:latin typeface="Arial" pitchFamily="34" charset="0"/>
                        <a:cs typeface="Arial" pitchFamily="34" charset="0"/>
                      </a:endParaRPr>
                    </a:p>
                  </a:txBody>
                  <a:tcPr>
                    <a:solidFill>
                      <a:schemeClr val="accent2">
                        <a:lumMod val="40000"/>
                        <a:lumOff val="60000"/>
                      </a:schemeClr>
                    </a:solidFill>
                  </a:tcPr>
                </a:tc>
              </a:tr>
              <a:tr h="1736420">
                <a:tc>
                  <a:txBody>
                    <a:bodyPr/>
                    <a:lstStyle/>
                    <a:p>
                      <a:pPr algn="ctr"/>
                      <a:r>
                        <a:rPr lang="en-US" dirty="0" smtClean="0"/>
                        <a:t>3.</a:t>
                      </a:r>
                      <a:endParaRPr lang="en-US" dirty="0"/>
                    </a:p>
                  </a:txBody>
                  <a:tcPr>
                    <a:solidFill>
                      <a:schemeClr val="accent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Voice/Speech Analysis Associated with Diseases Using Vocal Biomarkers</a:t>
                      </a:r>
                      <a:endParaRPr lang="en-US" sz="1400" dirty="0">
                        <a:latin typeface="Arial" pitchFamily="34" charset="0"/>
                        <a:cs typeface="Arial" pitchFamily="34" charset="0"/>
                      </a:endParaRPr>
                    </a:p>
                  </a:txBody>
                  <a:tcPr>
                    <a:solidFill>
                      <a:schemeClr val="accent2">
                        <a:lumMod val="40000"/>
                        <a:lumOff val="60000"/>
                      </a:schemeClr>
                    </a:solidFill>
                  </a:tcPr>
                </a:tc>
                <a:tc>
                  <a:txBody>
                    <a:bodyPr/>
                    <a:lstStyle/>
                    <a:p>
                      <a:r>
                        <a:rPr lang="en-US" sz="1400" dirty="0" smtClean="0">
                          <a:latin typeface="Arial" pitchFamily="34" charset="0"/>
                          <a:cs typeface="Arial" pitchFamily="34" charset="0"/>
                        </a:rPr>
                        <a:t>Sara JDS, </a:t>
                      </a:r>
                      <a:r>
                        <a:rPr lang="en-US" sz="1400" dirty="0" err="1" smtClean="0">
                          <a:latin typeface="Arial" pitchFamily="34" charset="0"/>
                          <a:cs typeface="Arial" pitchFamily="34" charset="0"/>
                        </a:rPr>
                        <a:t>Maor</a:t>
                      </a:r>
                      <a:r>
                        <a:rPr lang="en-US" sz="1400" dirty="0" smtClean="0">
                          <a:latin typeface="Arial" pitchFamily="34" charset="0"/>
                          <a:cs typeface="Arial" pitchFamily="34" charset="0"/>
                        </a:rPr>
                        <a:t> E, et.al</a:t>
                      </a:r>
                    </a:p>
                    <a:p>
                      <a:r>
                        <a:rPr lang="en-US" sz="1400" dirty="0" smtClean="0">
                          <a:latin typeface="Arial" pitchFamily="34" charset="0"/>
                          <a:cs typeface="Arial" pitchFamily="34" charset="0"/>
                        </a:rPr>
                        <a:t>Mayo Clinic Proceedings, 2022</a:t>
                      </a:r>
                      <a:endParaRPr lang="en-US" sz="1400" dirty="0">
                        <a:latin typeface="Arial" pitchFamily="34" charset="0"/>
                        <a:cs typeface="Arial" pitchFamily="34" charset="0"/>
                      </a:endParaRPr>
                    </a:p>
                  </a:txBody>
                  <a:tcPr>
                    <a:solidFill>
                      <a:schemeClr val="accent2">
                        <a:lumMod val="40000"/>
                        <a:lumOff val="60000"/>
                      </a:schemeClr>
                    </a:solidFill>
                  </a:tcPr>
                </a:tc>
                <a:tc>
                  <a:txBody>
                    <a:bodyPr/>
                    <a:lstStyle/>
                    <a:p>
                      <a:r>
                        <a:rPr lang="en-US" sz="1400" dirty="0" smtClean="0">
                          <a:latin typeface="Arial" pitchFamily="34" charset="0"/>
                          <a:cs typeface="Arial" pitchFamily="34" charset="0"/>
                        </a:rPr>
                        <a:t>Machine learning based vocal biomarker analysis</a:t>
                      </a:r>
                      <a:endParaRPr lang="en-US" sz="1400" dirty="0">
                        <a:latin typeface="Arial" pitchFamily="34" charset="0"/>
                        <a:cs typeface="Arial" pitchFamily="34" charset="0"/>
                      </a:endParaRPr>
                    </a:p>
                  </a:txBody>
                  <a:tcPr>
                    <a:solidFill>
                      <a:schemeClr val="accent2">
                        <a:lumMod val="40000"/>
                        <a:lumOff val="60000"/>
                      </a:schemeClr>
                    </a:solidFill>
                  </a:tcPr>
                </a:tc>
                <a:tc>
                  <a:txBody>
                    <a:bodyPr/>
                    <a:lstStyle/>
                    <a:p>
                      <a:r>
                        <a:rPr lang="en-US" sz="1400" dirty="0" smtClean="0">
                          <a:latin typeface="Arial" pitchFamily="34" charset="0"/>
                          <a:cs typeface="Arial" pitchFamily="34" charset="0"/>
                        </a:rPr>
                        <a:t>Fundamental frequency (Pitch)</a:t>
                      </a:r>
                    </a:p>
                    <a:p>
                      <a:r>
                        <a:rPr lang="en-US" sz="1400" dirty="0" smtClean="0">
                          <a:latin typeface="Arial" pitchFamily="34" charset="0"/>
                          <a:cs typeface="Arial" pitchFamily="34" charset="0"/>
                        </a:rPr>
                        <a:t>Amplitude variation</a:t>
                      </a:r>
                    </a:p>
                    <a:p>
                      <a:r>
                        <a:rPr lang="en-US" sz="1400" dirty="0" smtClean="0">
                          <a:latin typeface="Arial" pitchFamily="34" charset="0"/>
                          <a:cs typeface="Arial" pitchFamily="34" charset="0"/>
                        </a:rPr>
                        <a:t>Jitter</a:t>
                      </a:r>
                    </a:p>
                    <a:p>
                      <a:r>
                        <a:rPr lang="en-US" sz="1400" dirty="0" smtClean="0">
                          <a:latin typeface="Arial" pitchFamily="34" charset="0"/>
                          <a:cs typeface="Arial" pitchFamily="34" charset="0"/>
                        </a:rPr>
                        <a:t>Shimmer</a:t>
                      </a:r>
                    </a:p>
                    <a:p>
                      <a:r>
                        <a:rPr lang="en-US" sz="1400" dirty="0" smtClean="0">
                          <a:latin typeface="Arial" pitchFamily="34" charset="0"/>
                          <a:cs typeface="Arial" pitchFamily="34" charset="0"/>
                        </a:rPr>
                        <a:t>Acoustic voice features</a:t>
                      </a:r>
                    </a:p>
                    <a:p>
                      <a:endParaRPr lang="en-US" dirty="0"/>
                    </a:p>
                  </a:txBody>
                  <a:tcPr>
                    <a:solidFill>
                      <a:schemeClr val="accent2">
                        <a:lumMod val="40000"/>
                        <a:lumOff val="60000"/>
                      </a:schemeClr>
                    </a:solidFill>
                  </a:tcPr>
                </a:tc>
              </a:tr>
            </a:tbl>
          </a:graphicData>
        </a:graphic>
      </p:graphicFrame>
      <p:sp>
        <p:nvSpPr>
          <p:cNvPr id="3" name="Rectangle 2"/>
          <p:cNvSpPr/>
          <p:nvPr/>
        </p:nvSpPr>
        <p:spPr>
          <a:xfrm>
            <a:off x="228600" y="228600"/>
            <a:ext cx="8610600" cy="584775"/>
          </a:xfrm>
          <a:prstGeom prst="rect">
            <a:avLst/>
          </a:prstGeom>
        </p:spPr>
        <p:txBody>
          <a:bodyPr wrap="square">
            <a:spAutoFit/>
          </a:bodyPr>
          <a:lstStyle/>
          <a:p>
            <a:r>
              <a:rPr lang="en-US" sz="3200" b="1" u="sng" dirty="0" smtClean="0">
                <a:solidFill>
                  <a:srgbClr val="C00000"/>
                </a:solidFill>
                <a:latin typeface="Times New Roman" pitchFamily="18" charset="0"/>
                <a:cs typeface="Times New Roman" pitchFamily="18" charset="0"/>
              </a:rPr>
              <a:t>Literature Review</a:t>
            </a:r>
            <a:endParaRPr lang="en-US" sz="2400" b="1" u="sng" dirty="0">
              <a:solidFill>
                <a:srgbClr val="C00000"/>
              </a:solidFill>
              <a:latin typeface="Times New Roman" pitchFamily="18" charset="0"/>
              <a:cs typeface="Times New Roman" pitchFamily="18" charset="0"/>
            </a:endParaRPr>
          </a:p>
        </p:txBody>
      </p:sp>
      <p:sp>
        <p:nvSpPr>
          <p:cNvPr id="4" name="TextBox 3"/>
          <p:cNvSpPr txBox="1"/>
          <p:nvPr/>
        </p:nvSpPr>
        <p:spPr>
          <a:xfrm>
            <a:off x="8458200" y="6248400"/>
            <a:ext cx="990600" cy="381000"/>
          </a:xfrm>
          <a:prstGeom prst="rect">
            <a:avLst/>
          </a:prstGeom>
          <a:noFill/>
        </p:spPr>
        <p:txBody>
          <a:bodyPr wrap="square" rtlCol="0">
            <a:spAutoFit/>
          </a:bodyPr>
          <a:lstStyle/>
          <a:p>
            <a:r>
              <a:rPr lang="en-US" dirty="0"/>
              <a:t>2</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534400" cy="584775"/>
          </a:xfrm>
          <a:prstGeom prst="rect">
            <a:avLst/>
          </a:prstGeom>
        </p:spPr>
        <p:txBody>
          <a:bodyPr wrap="square">
            <a:spAutoFit/>
          </a:bodyPr>
          <a:lstStyle/>
          <a:p>
            <a:r>
              <a:rPr lang="en-US" sz="3200" b="1" u="sng" dirty="0" smtClean="0">
                <a:solidFill>
                  <a:srgbClr val="C00000"/>
                </a:solidFill>
                <a:latin typeface="Times New Roman" pitchFamily="18" charset="0"/>
                <a:cs typeface="Times New Roman" pitchFamily="18" charset="0"/>
              </a:rPr>
              <a:t>Problem Statement</a:t>
            </a:r>
            <a:endParaRPr lang="en-US" sz="2400" b="1" u="sng" dirty="0">
              <a:solidFill>
                <a:srgbClr val="C00000"/>
              </a:solidFill>
              <a:latin typeface="Times New Roman" pitchFamily="18" charset="0"/>
              <a:cs typeface="Times New Roman" pitchFamily="18" charset="0"/>
            </a:endParaRPr>
          </a:p>
        </p:txBody>
      </p:sp>
      <p:sp>
        <p:nvSpPr>
          <p:cNvPr id="3" name="Rectangle 2"/>
          <p:cNvSpPr/>
          <p:nvPr/>
        </p:nvSpPr>
        <p:spPr>
          <a:xfrm>
            <a:off x="457200" y="1371600"/>
            <a:ext cx="8382000" cy="4524315"/>
          </a:xfrm>
          <a:prstGeom prst="rect">
            <a:avLst/>
          </a:prstGeom>
        </p:spPr>
        <p:txBody>
          <a:bodyPr wrap="square">
            <a:spAutoFit/>
          </a:bodyPr>
          <a:lstStyle/>
          <a:p>
            <a:pPr>
              <a:buFont typeface="Arial" pitchFamily="34" charset="0"/>
              <a:buChar char="•"/>
            </a:pPr>
            <a:r>
              <a:rPr lang="en-US" sz="2400" dirty="0" smtClean="0">
                <a:latin typeface="Times New Roman" pitchFamily="18" charset="0"/>
                <a:cs typeface="Times New Roman" pitchFamily="18" charset="0"/>
              </a:rPr>
              <a:t>Early detection of heart, respiratory, and fever-related conditions is difficult with traditional single-parameter devices.</a:t>
            </a:r>
          </a:p>
          <a:p>
            <a:endParaRPr lang="en-US" sz="2400" dirty="0" smtClean="0">
              <a:latin typeface="Times New Roman" pitchFamily="18" charset="0"/>
              <a:cs typeface="Times New Roman" pitchFamily="18" charset="0"/>
            </a:endParaRPr>
          </a:p>
          <a:p>
            <a:pPr>
              <a:buFont typeface="Arial" pitchFamily="34" charset="0"/>
              <a:buChar char="•"/>
            </a:pPr>
            <a:r>
              <a:rPr lang="en-US" sz="2400" dirty="0" smtClean="0">
                <a:latin typeface="Times New Roman" pitchFamily="18" charset="0"/>
                <a:cs typeface="Times New Roman" pitchFamily="18" charset="0"/>
              </a:rPr>
              <a:t>Continuous health monitoring is not easily accessible in remote or home environments.</a:t>
            </a:r>
          </a:p>
          <a:p>
            <a:pPr>
              <a:buFont typeface="Arial" pitchFamily="34" charset="0"/>
              <a:buChar char="•"/>
            </a:pPr>
            <a:endParaRPr lang="en-US" sz="2400" dirty="0" smtClean="0">
              <a:latin typeface="Times New Roman" pitchFamily="18" charset="0"/>
              <a:cs typeface="Times New Roman" pitchFamily="18" charset="0"/>
            </a:endParaRPr>
          </a:p>
          <a:p>
            <a:pPr>
              <a:buFont typeface="Arial" pitchFamily="34" charset="0"/>
              <a:buChar char="•"/>
            </a:pPr>
            <a:r>
              <a:rPr lang="en-US" sz="2400" dirty="0" smtClean="0">
                <a:latin typeface="Times New Roman" pitchFamily="18" charset="0"/>
                <a:cs typeface="Times New Roman" pitchFamily="18" charset="0"/>
              </a:rPr>
              <a:t> Voice changes related to stress or respiratory issues are often ignored in existing wearable systems.</a:t>
            </a:r>
          </a:p>
          <a:p>
            <a:endParaRPr lang="en-US" sz="2400" dirty="0" smtClean="0">
              <a:latin typeface="Times New Roman" pitchFamily="18" charset="0"/>
              <a:cs typeface="Times New Roman" pitchFamily="18" charset="0"/>
            </a:endParaRPr>
          </a:p>
          <a:p>
            <a:pPr>
              <a:buFont typeface="Arial" pitchFamily="34" charset="0"/>
              <a:buChar char="•"/>
            </a:pPr>
            <a:r>
              <a:rPr lang="en-US" sz="2400" dirty="0" smtClean="0">
                <a:latin typeface="Times New Roman" pitchFamily="18" charset="0"/>
                <a:cs typeface="Times New Roman" pitchFamily="18" charset="0"/>
              </a:rPr>
              <a:t>There is a need for a compact, low-cost multi-parameter device that combines physiological signals and voice biomarkers for real-time health risk assessment.</a:t>
            </a:r>
            <a:endParaRPr lang="en-US" sz="3600" dirty="0">
              <a:latin typeface="Times New Roman" pitchFamily="18" charset="0"/>
              <a:cs typeface="Times New Roman" pitchFamily="18" charset="0"/>
            </a:endParaRPr>
          </a:p>
        </p:txBody>
      </p:sp>
      <p:sp>
        <p:nvSpPr>
          <p:cNvPr id="5" name="TextBox 4"/>
          <p:cNvSpPr txBox="1"/>
          <p:nvPr/>
        </p:nvSpPr>
        <p:spPr>
          <a:xfrm>
            <a:off x="8458200" y="6248400"/>
            <a:ext cx="990600" cy="381000"/>
          </a:xfrm>
          <a:prstGeom prst="rect">
            <a:avLst/>
          </a:prstGeom>
          <a:noFill/>
        </p:spPr>
        <p:txBody>
          <a:bodyPr wrap="square" rtlCol="0">
            <a:spAutoFit/>
          </a:bodyPr>
          <a:lstStyle/>
          <a:p>
            <a:r>
              <a:rPr lang="en-US" dirty="0"/>
              <a:t>3</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534400" cy="584775"/>
          </a:xfrm>
          <a:prstGeom prst="rect">
            <a:avLst/>
          </a:prstGeom>
        </p:spPr>
        <p:txBody>
          <a:bodyPr wrap="square">
            <a:spAutoFit/>
          </a:bodyPr>
          <a:lstStyle/>
          <a:p>
            <a:r>
              <a:rPr lang="en-US" sz="3200" b="1" u="sng" dirty="0" smtClean="0">
                <a:solidFill>
                  <a:srgbClr val="C00000"/>
                </a:solidFill>
                <a:latin typeface="Times New Roman" pitchFamily="18" charset="0"/>
                <a:cs typeface="Times New Roman" pitchFamily="18" charset="0"/>
              </a:rPr>
              <a:t>Objectives</a:t>
            </a:r>
            <a:endParaRPr lang="en-US" sz="2400" b="1" u="sng" dirty="0">
              <a:solidFill>
                <a:srgbClr val="C00000"/>
              </a:solidFill>
              <a:latin typeface="Times New Roman" pitchFamily="18" charset="0"/>
              <a:cs typeface="Times New Roman" pitchFamily="18" charset="0"/>
            </a:endParaRPr>
          </a:p>
        </p:txBody>
      </p:sp>
      <p:sp>
        <p:nvSpPr>
          <p:cNvPr id="3" name="Rectangle 2"/>
          <p:cNvSpPr/>
          <p:nvPr/>
        </p:nvSpPr>
        <p:spPr>
          <a:xfrm>
            <a:off x="457200" y="1219200"/>
            <a:ext cx="8382000" cy="3046988"/>
          </a:xfrm>
          <a:prstGeom prst="rect">
            <a:avLst/>
          </a:prstGeom>
        </p:spPr>
        <p:txBody>
          <a:bodyPr wrap="square">
            <a:spAutoFit/>
          </a:bodyPr>
          <a:lstStyle/>
          <a:p>
            <a:pPr>
              <a:buFont typeface="Arial" pitchFamily="34" charset="0"/>
              <a:buChar char="•"/>
            </a:pPr>
            <a:r>
              <a:rPr lang="en-US" sz="2400" dirty="0" smtClean="0"/>
              <a:t>To develop a low-cost portable health monitoring system using ESP32 and biomedical sensors.</a:t>
            </a:r>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pPr>
              <a:buFont typeface="Arial" pitchFamily="34" charset="0"/>
              <a:buChar char="•"/>
            </a:pPr>
            <a:r>
              <a:rPr lang="en-US" sz="2400" dirty="0" smtClean="0"/>
              <a:t>To analyze voice biomarkers and vital parameters for early health risk detection.</a:t>
            </a:r>
          </a:p>
          <a:p>
            <a:pPr>
              <a:buFont typeface="Arial" pitchFamily="34" charset="0"/>
              <a:buChar char="•"/>
            </a:pPr>
            <a:endParaRPr lang="en-US" sz="2400" dirty="0">
              <a:latin typeface="Times New Roman" pitchFamily="18" charset="0"/>
              <a:cs typeface="Times New Roman" pitchFamily="18" charset="0"/>
            </a:endParaRPr>
          </a:p>
          <a:p>
            <a:pPr>
              <a:buFont typeface="Arial" pitchFamily="34" charset="0"/>
              <a:buChar char="•"/>
            </a:pPr>
            <a:r>
              <a:rPr lang="en-US" sz="2400" dirty="0" smtClean="0"/>
              <a:t>To implement a real-time risk classification system (Low, Moderate, High).</a:t>
            </a:r>
            <a:endParaRPr lang="en-US" sz="2400" dirty="0" smtClean="0">
              <a:latin typeface="Times New Roman" pitchFamily="18" charset="0"/>
              <a:cs typeface="Times New Roman" pitchFamily="18" charset="0"/>
            </a:endParaRPr>
          </a:p>
        </p:txBody>
      </p:sp>
      <p:sp>
        <p:nvSpPr>
          <p:cNvPr id="4" name="TextBox 3"/>
          <p:cNvSpPr txBox="1"/>
          <p:nvPr/>
        </p:nvSpPr>
        <p:spPr>
          <a:xfrm>
            <a:off x="8458200" y="6248400"/>
            <a:ext cx="990600" cy="381000"/>
          </a:xfrm>
          <a:prstGeom prst="rect">
            <a:avLst/>
          </a:prstGeom>
          <a:noFill/>
        </p:spPr>
        <p:txBody>
          <a:bodyPr wrap="square" rtlCol="0">
            <a:spAutoFit/>
          </a:bodyPr>
          <a:lstStyle/>
          <a:p>
            <a:r>
              <a:rPr lang="en-US" dirty="0"/>
              <a:t>4</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1000" y="0"/>
            <a:ext cx="8534400" cy="584775"/>
          </a:xfrm>
          <a:prstGeom prst="rect">
            <a:avLst/>
          </a:prstGeom>
        </p:spPr>
        <p:txBody>
          <a:bodyPr wrap="square">
            <a:spAutoFit/>
          </a:bodyPr>
          <a:lstStyle/>
          <a:p>
            <a:pPr algn="ctr"/>
            <a:r>
              <a:rPr lang="en-US" sz="3200" b="1" u="sng" dirty="0" smtClean="0">
                <a:solidFill>
                  <a:srgbClr val="C00000"/>
                </a:solidFill>
                <a:latin typeface="Times New Roman" pitchFamily="18" charset="0"/>
                <a:cs typeface="Times New Roman" pitchFamily="18" charset="0"/>
              </a:rPr>
              <a:t>System Design</a:t>
            </a:r>
            <a:endParaRPr lang="en-US" sz="2400" b="1" u="sng" dirty="0">
              <a:solidFill>
                <a:srgbClr val="C00000"/>
              </a:solidFill>
              <a:latin typeface="Times New Roman" pitchFamily="18" charset="0"/>
              <a:cs typeface="Times New Roman" pitchFamily="18" charset="0"/>
            </a:endParaRPr>
          </a:p>
        </p:txBody>
      </p:sp>
      <p:sp>
        <p:nvSpPr>
          <p:cNvPr id="6" name="TextBox 5"/>
          <p:cNvSpPr txBox="1"/>
          <p:nvPr/>
        </p:nvSpPr>
        <p:spPr>
          <a:xfrm>
            <a:off x="8458200" y="6248400"/>
            <a:ext cx="990600" cy="381000"/>
          </a:xfrm>
          <a:prstGeom prst="rect">
            <a:avLst/>
          </a:prstGeom>
          <a:noFill/>
        </p:spPr>
        <p:txBody>
          <a:bodyPr wrap="square" rtlCol="0">
            <a:spAutoFit/>
          </a:bodyPr>
          <a:lstStyle/>
          <a:p>
            <a:r>
              <a:rPr lang="en-US" dirty="0"/>
              <a:t>5</a:t>
            </a:r>
          </a:p>
        </p:txBody>
      </p:sp>
      <p:pic>
        <p:nvPicPr>
          <p:cNvPr id="7" name="Picture 2"/>
          <p:cNvPicPr>
            <a:picLocks noChangeAspect="1" noChangeArrowheads="1"/>
          </p:cNvPicPr>
          <p:nvPr/>
        </p:nvPicPr>
        <p:blipFill>
          <a:blip r:embed="rId2"/>
          <a:srcRect/>
          <a:stretch>
            <a:fillRect/>
          </a:stretch>
        </p:blipFill>
        <p:spPr bwMode="auto">
          <a:xfrm>
            <a:off x="490538" y="1204913"/>
            <a:ext cx="8162925" cy="4448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Admin\Downloads\ChatGPT Image Mar 3, 2026, 11_12_48 PM.png"/>
          <p:cNvPicPr>
            <a:picLocks noChangeAspect="1" noChangeArrowheads="1"/>
          </p:cNvPicPr>
          <p:nvPr/>
        </p:nvPicPr>
        <p:blipFill>
          <a:blip r:embed="rId2"/>
          <a:srcRect/>
          <a:stretch>
            <a:fillRect/>
          </a:stretch>
        </p:blipFill>
        <p:spPr bwMode="auto">
          <a:xfrm>
            <a:off x="0" y="762000"/>
            <a:ext cx="9144000" cy="6096000"/>
          </a:xfrm>
          <a:prstGeom prst="rect">
            <a:avLst/>
          </a:prstGeom>
          <a:noFill/>
        </p:spPr>
      </p:pic>
      <p:sp>
        <p:nvSpPr>
          <p:cNvPr id="3" name="Rectangle 2"/>
          <p:cNvSpPr/>
          <p:nvPr/>
        </p:nvSpPr>
        <p:spPr>
          <a:xfrm>
            <a:off x="381000" y="228600"/>
            <a:ext cx="8534400" cy="584775"/>
          </a:xfrm>
          <a:prstGeom prst="rect">
            <a:avLst/>
          </a:prstGeom>
        </p:spPr>
        <p:txBody>
          <a:bodyPr wrap="square">
            <a:spAutoFit/>
          </a:bodyPr>
          <a:lstStyle/>
          <a:p>
            <a:pPr algn="ctr"/>
            <a:r>
              <a:rPr lang="en-US" sz="3200" b="1" u="sng" dirty="0" smtClean="0">
                <a:solidFill>
                  <a:srgbClr val="C00000"/>
                </a:solidFill>
                <a:latin typeface="Times New Roman" pitchFamily="18" charset="0"/>
                <a:cs typeface="Times New Roman" pitchFamily="18" charset="0"/>
              </a:rPr>
              <a:t>Methodology</a:t>
            </a:r>
            <a:endParaRPr lang="en-US" sz="2400" b="1" u="sng" dirty="0">
              <a:solidFill>
                <a:srgbClr val="C00000"/>
              </a:solidFill>
              <a:latin typeface="Times New Roman" pitchFamily="18" charset="0"/>
              <a:cs typeface="Times New Roman" pitchFamily="18" charset="0"/>
            </a:endParaRPr>
          </a:p>
        </p:txBody>
      </p:sp>
      <p:sp>
        <p:nvSpPr>
          <p:cNvPr id="4" name="TextBox 3"/>
          <p:cNvSpPr txBox="1"/>
          <p:nvPr/>
        </p:nvSpPr>
        <p:spPr>
          <a:xfrm>
            <a:off x="8458200" y="6248400"/>
            <a:ext cx="990600" cy="381000"/>
          </a:xfrm>
          <a:prstGeom prst="rect">
            <a:avLst/>
          </a:prstGeom>
          <a:noFill/>
        </p:spPr>
        <p:txBody>
          <a:bodyPr wrap="square" rtlCol="0">
            <a:spAutoFit/>
          </a:bodyPr>
          <a:lstStyle/>
          <a:p>
            <a:r>
              <a:rPr lang="en-US" dirty="0"/>
              <a:t>6</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382000" cy="584775"/>
          </a:xfrm>
          <a:prstGeom prst="rect">
            <a:avLst/>
          </a:prstGeom>
        </p:spPr>
        <p:txBody>
          <a:bodyPr wrap="square">
            <a:spAutoFit/>
          </a:bodyPr>
          <a:lstStyle/>
          <a:p>
            <a:r>
              <a:rPr lang="en-US" sz="3200" b="1" u="sng" dirty="0" smtClean="0">
                <a:solidFill>
                  <a:srgbClr val="C00000"/>
                </a:solidFill>
                <a:latin typeface="Times New Roman" pitchFamily="18" charset="0"/>
                <a:cs typeface="Times New Roman" pitchFamily="18" charset="0"/>
              </a:rPr>
              <a:t>Results &amp; Discussions</a:t>
            </a:r>
            <a:endParaRPr lang="en-US" sz="2400" b="1" u="sng" dirty="0">
              <a:solidFill>
                <a:srgbClr val="C00000"/>
              </a:solidFill>
              <a:latin typeface="Times New Roman" pitchFamily="18" charset="0"/>
              <a:cs typeface="Times New Roman" pitchFamily="18" charset="0"/>
            </a:endParaRPr>
          </a:p>
        </p:txBody>
      </p:sp>
      <p:sp>
        <p:nvSpPr>
          <p:cNvPr id="3" name="TextBox 2"/>
          <p:cNvSpPr txBox="1"/>
          <p:nvPr/>
        </p:nvSpPr>
        <p:spPr>
          <a:xfrm>
            <a:off x="8458200" y="6248400"/>
            <a:ext cx="990600" cy="381000"/>
          </a:xfrm>
          <a:prstGeom prst="rect">
            <a:avLst/>
          </a:prstGeom>
          <a:noFill/>
        </p:spPr>
        <p:txBody>
          <a:bodyPr wrap="square" rtlCol="0">
            <a:spAutoFit/>
          </a:bodyPr>
          <a:lstStyle/>
          <a:p>
            <a:r>
              <a:rPr lang="en-US" dirty="0"/>
              <a:t>7</a:t>
            </a:r>
          </a:p>
        </p:txBody>
      </p:sp>
      <p:sp>
        <p:nvSpPr>
          <p:cNvPr id="10241"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2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243"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pic>
        <p:nvPicPr>
          <p:cNvPr id="7" name="Picture 6" descr="INTEGRATED SETUP.jpeg"/>
          <p:cNvPicPr>
            <a:picLocks noChangeAspect="1"/>
          </p:cNvPicPr>
          <p:nvPr/>
        </p:nvPicPr>
        <p:blipFill>
          <a:blip r:embed="rId2"/>
          <a:stretch>
            <a:fillRect/>
          </a:stretch>
        </p:blipFill>
        <p:spPr>
          <a:xfrm rot="16200000">
            <a:off x="2857501" y="1181099"/>
            <a:ext cx="2666999" cy="3962401"/>
          </a:xfrm>
          <a:prstGeom prst="rect">
            <a:avLst/>
          </a:prstGeom>
        </p:spPr>
      </p:pic>
      <p:pic>
        <p:nvPicPr>
          <p:cNvPr id="8" name="Picture 7" descr="WhatsApp Image 2025-08-28 at 9.20.04 PM.jpeg"/>
          <p:cNvPicPr>
            <a:picLocks noChangeAspect="1"/>
          </p:cNvPicPr>
          <p:nvPr/>
        </p:nvPicPr>
        <p:blipFill>
          <a:blip r:embed="rId3"/>
          <a:stretch>
            <a:fillRect/>
          </a:stretch>
        </p:blipFill>
        <p:spPr>
          <a:xfrm>
            <a:off x="1981200" y="4659542"/>
            <a:ext cx="4714875" cy="2198458"/>
          </a:xfrm>
          <a:prstGeom prst="rect">
            <a:avLst/>
          </a:prstGeom>
        </p:spPr>
      </p:pic>
      <p:sp>
        <p:nvSpPr>
          <p:cNvPr id="9" name="Rectangle 8"/>
          <p:cNvSpPr/>
          <p:nvPr/>
        </p:nvSpPr>
        <p:spPr>
          <a:xfrm>
            <a:off x="1143000" y="1219200"/>
            <a:ext cx="6858000" cy="369332"/>
          </a:xfrm>
          <a:prstGeom prst="rect">
            <a:avLst/>
          </a:prstGeom>
        </p:spPr>
        <p:txBody>
          <a:bodyPr wrap="square">
            <a:spAutoFit/>
          </a:bodyPr>
          <a:lstStyle/>
          <a:p>
            <a:r>
              <a:rPr lang="en-US" dirty="0" smtClean="0">
                <a:latin typeface="Arial" pitchFamily="34" charset="0"/>
                <a:cs typeface="Arial" pitchFamily="34" charset="0"/>
              </a:rPr>
              <a:t>Integration of MAX30100/30102 and MLX90614 Sensor</a:t>
            </a:r>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srcRect/>
          <a:stretch>
            <a:fillRect/>
          </a:stretch>
        </p:blipFill>
        <p:spPr bwMode="auto">
          <a:xfrm>
            <a:off x="2095500" y="4524375"/>
            <a:ext cx="7048500" cy="2333625"/>
          </a:xfrm>
          <a:prstGeom prst="rect">
            <a:avLst/>
          </a:prstGeom>
          <a:noFill/>
          <a:ln w="9525">
            <a:noFill/>
            <a:miter lim="800000"/>
            <a:headEnd/>
            <a:tailEnd/>
          </a:ln>
          <a:effectLst/>
        </p:spPr>
      </p:pic>
      <p:pic>
        <p:nvPicPr>
          <p:cNvPr id="32771" name="Picture 3"/>
          <p:cNvPicPr>
            <a:picLocks noChangeAspect="1" noChangeArrowheads="1"/>
          </p:cNvPicPr>
          <p:nvPr/>
        </p:nvPicPr>
        <p:blipFill>
          <a:blip r:embed="rId3" cstate="print"/>
          <a:srcRect/>
          <a:stretch>
            <a:fillRect/>
          </a:stretch>
        </p:blipFill>
        <p:spPr bwMode="auto">
          <a:xfrm>
            <a:off x="2362200" y="1447800"/>
            <a:ext cx="4191000" cy="2931080"/>
          </a:xfrm>
          <a:prstGeom prst="rect">
            <a:avLst/>
          </a:prstGeom>
          <a:noFill/>
          <a:ln w="9525">
            <a:noFill/>
            <a:miter lim="800000"/>
            <a:headEnd/>
            <a:tailEnd/>
          </a:ln>
          <a:effectLst/>
        </p:spPr>
      </p:pic>
      <p:sp>
        <p:nvSpPr>
          <p:cNvPr id="4" name="Rectangle 3"/>
          <p:cNvSpPr/>
          <p:nvPr/>
        </p:nvSpPr>
        <p:spPr>
          <a:xfrm>
            <a:off x="990600" y="762000"/>
            <a:ext cx="7315200" cy="369332"/>
          </a:xfrm>
          <a:prstGeom prst="rect">
            <a:avLst/>
          </a:prstGeom>
        </p:spPr>
        <p:txBody>
          <a:bodyPr wrap="square">
            <a:spAutoFit/>
          </a:bodyPr>
          <a:lstStyle/>
          <a:p>
            <a:r>
              <a:rPr lang="en-US" dirty="0" smtClean="0">
                <a:latin typeface="Arial" pitchFamily="34" charset="0"/>
                <a:cs typeface="Arial" pitchFamily="34" charset="0"/>
              </a:rPr>
              <a:t>Integration of MAX30100/30102, MLX90614 and MAX9814 Sensor</a:t>
            </a:r>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534400" cy="584775"/>
          </a:xfrm>
          <a:prstGeom prst="rect">
            <a:avLst/>
          </a:prstGeom>
        </p:spPr>
        <p:txBody>
          <a:bodyPr wrap="square">
            <a:spAutoFit/>
          </a:bodyPr>
          <a:lstStyle/>
          <a:p>
            <a:r>
              <a:rPr lang="en-US" sz="3200" b="1" u="sng" dirty="0" smtClean="0">
                <a:solidFill>
                  <a:srgbClr val="C00000"/>
                </a:solidFill>
                <a:latin typeface="Times New Roman" pitchFamily="18" charset="0"/>
                <a:cs typeface="Times New Roman" pitchFamily="18" charset="0"/>
              </a:rPr>
              <a:t>Conclusion</a:t>
            </a:r>
            <a:endParaRPr lang="en-US" sz="2400" b="1" u="sng" dirty="0">
              <a:solidFill>
                <a:srgbClr val="C00000"/>
              </a:solidFill>
              <a:latin typeface="Times New Roman" pitchFamily="18" charset="0"/>
              <a:cs typeface="Times New Roman" pitchFamily="18" charset="0"/>
            </a:endParaRPr>
          </a:p>
        </p:txBody>
      </p:sp>
      <p:sp>
        <p:nvSpPr>
          <p:cNvPr id="3" name="Rectangle 2"/>
          <p:cNvSpPr/>
          <p:nvPr/>
        </p:nvSpPr>
        <p:spPr>
          <a:xfrm>
            <a:off x="533400" y="1219200"/>
            <a:ext cx="8229600" cy="2308324"/>
          </a:xfrm>
          <a:prstGeom prst="rect">
            <a:avLst/>
          </a:prstGeom>
        </p:spPr>
        <p:txBody>
          <a:bodyPr wrap="square">
            <a:spAutoFit/>
          </a:bodyPr>
          <a:lstStyle/>
          <a:p>
            <a:r>
              <a:rPr lang="en-US" sz="2400" dirty="0" smtClean="0">
                <a:latin typeface="Times New Roman" pitchFamily="18" charset="0"/>
                <a:cs typeface="Times New Roman" pitchFamily="18" charset="0"/>
              </a:rPr>
              <a:t>In conclusion, this project proposes an AI-based system that combines voice biomarkers and physiological signals for health risk assessment. At this stage, we have completed the literature review and system design. The future work will focus on complete hardware implementation and AI model development for real-time monitoring and prediction.</a:t>
            </a:r>
            <a:endParaRPr lang="en-US" sz="2400" dirty="0">
              <a:latin typeface="Times New Roman" pitchFamily="18" charset="0"/>
              <a:cs typeface="Times New Roman" pitchFamily="18" charset="0"/>
            </a:endParaRPr>
          </a:p>
        </p:txBody>
      </p:sp>
      <p:sp>
        <p:nvSpPr>
          <p:cNvPr id="4" name="TextBox 3"/>
          <p:cNvSpPr txBox="1"/>
          <p:nvPr/>
        </p:nvSpPr>
        <p:spPr>
          <a:xfrm>
            <a:off x="8458200" y="6248400"/>
            <a:ext cx="990600" cy="381000"/>
          </a:xfrm>
          <a:prstGeom prst="rect">
            <a:avLst/>
          </a:prstGeom>
          <a:noFill/>
        </p:spPr>
        <p:txBody>
          <a:bodyPr wrap="square" rtlCol="0">
            <a:spAutoFit/>
          </a:bodyPr>
          <a:lstStyle/>
          <a:p>
            <a:r>
              <a:rPr lang="en-US" dirty="0"/>
              <a:t>8</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534400" cy="584775"/>
          </a:xfrm>
          <a:prstGeom prst="rect">
            <a:avLst/>
          </a:prstGeom>
        </p:spPr>
        <p:txBody>
          <a:bodyPr wrap="square">
            <a:spAutoFit/>
          </a:bodyPr>
          <a:lstStyle/>
          <a:p>
            <a:r>
              <a:rPr lang="en-US" sz="3200" b="1" u="sng" dirty="0" smtClean="0">
                <a:solidFill>
                  <a:srgbClr val="C00000"/>
                </a:solidFill>
                <a:latin typeface="Times New Roman" pitchFamily="18" charset="0"/>
                <a:cs typeface="Times New Roman" pitchFamily="18" charset="0"/>
              </a:rPr>
              <a:t>Future Work</a:t>
            </a:r>
            <a:endParaRPr lang="en-US" sz="2400" b="1" u="sng" dirty="0">
              <a:solidFill>
                <a:srgbClr val="C00000"/>
              </a:solidFill>
              <a:latin typeface="Times New Roman" pitchFamily="18" charset="0"/>
              <a:cs typeface="Times New Roman" pitchFamily="18" charset="0"/>
            </a:endParaRPr>
          </a:p>
        </p:txBody>
      </p:sp>
      <p:sp>
        <p:nvSpPr>
          <p:cNvPr id="4" name="Rectangle 3"/>
          <p:cNvSpPr/>
          <p:nvPr/>
        </p:nvSpPr>
        <p:spPr>
          <a:xfrm>
            <a:off x="457200" y="1143000"/>
            <a:ext cx="8534400" cy="3970318"/>
          </a:xfrm>
          <a:prstGeom prst="rect">
            <a:avLst/>
          </a:prstGeom>
        </p:spPr>
        <p:txBody>
          <a:bodyPr wrap="square">
            <a:spAutoFit/>
          </a:bodyPr>
          <a:lstStyle/>
          <a:p>
            <a:pPr>
              <a:buFont typeface="Arial" pitchFamily="34" charset="0"/>
              <a:buChar char="•"/>
            </a:pPr>
            <a:r>
              <a:rPr lang="en-US" sz="2800" dirty="0" smtClean="0">
                <a:latin typeface="Times New Roman" pitchFamily="18" charset="0"/>
                <a:cs typeface="Times New Roman" pitchFamily="18" charset="0"/>
              </a:rPr>
              <a:t>Advanced AI integration</a:t>
            </a:r>
          </a:p>
          <a:p>
            <a:endParaRPr lang="en-US" sz="2800" dirty="0" smtClean="0">
              <a:latin typeface="Times New Roman" pitchFamily="18" charset="0"/>
              <a:cs typeface="Times New Roman" pitchFamily="18" charset="0"/>
            </a:endParaRPr>
          </a:p>
          <a:p>
            <a:pPr>
              <a:buFont typeface="Arial" pitchFamily="34" charset="0"/>
              <a:buChar char="•"/>
            </a:pPr>
            <a:r>
              <a:rPr lang="en-US" sz="2800" dirty="0" smtClean="0">
                <a:latin typeface="Times New Roman" pitchFamily="18" charset="0"/>
                <a:cs typeface="Times New Roman" pitchFamily="18" charset="0"/>
              </a:rPr>
              <a:t> Cloud and IOT integration</a:t>
            </a:r>
          </a:p>
          <a:p>
            <a:endParaRPr lang="en-US" sz="2800" dirty="0" smtClean="0">
              <a:latin typeface="Times New Roman" pitchFamily="18" charset="0"/>
              <a:cs typeface="Times New Roman" pitchFamily="18" charset="0"/>
            </a:endParaRPr>
          </a:p>
          <a:p>
            <a:pPr>
              <a:buFont typeface="Arial" pitchFamily="34" charset="0"/>
              <a:buChar char="•"/>
            </a:pP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Mobile Application Development</a:t>
            </a:r>
          </a:p>
          <a:p>
            <a:endParaRPr lang="en-US" sz="2800" dirty="0" smtClean="0">
              <a:latin typeface="Times New Roman" pitchFamily="18" charset="0"/>
              <a:cs typeface="Times New Roman" pitchFamily="18" charset="0"/>
            </a:endParaRPr>
          </a:p>
          <a:p>
            <a:pPr>
              <a:buFont typeface="Arial" pitchFamily="34" charset="0"/>
              <a:buChar char="•"/>
            </a:pPr>
            <a:r>
              <a:rPr lang="en-US" sz="2800" dirty="0" smtClean="0">
                <a:latin typeface="Times New Roman" pitchFamily="18" charset="0"/>
                <a:cs typeface="Times New Roman" pitchFamily="18" charset="0"/>
              </a:rPr>
              <a:t>Wearable System</a:t>
            </a:r>
          </a:p>
          <a:p>
            <a:endParaRPr lang="en-US" sz="2800" dirty="0" smtClean="0">
              <a:latin typeface="Times New Roman" pitchFamily="18" charset="0"/>
              <a:cs typeface="Times New Roman" pitchFamily="18" charset="0"/>
            </a:endParaRPr>
          </a:p>
          <a:p>
            <a:pPr>
              <a:buFont typeface="Arial" pitchFamily="34" charset="0"/>
              <a:buChar char="•"/>
            </a:pPr>
            <a:r>
              <a:rPr lang="en-US" sz="2800" dirty="0" smtClean="0">
                <a:latin typeface="Times New Roman" pitchFamily="18" charset="0"/>
                <a:cs typeface="Times New Roman" pitchFamily="18" charset="0"/>
              </a:rPr>
              <a:t>Additional Sensor integration</a:t>
            </a:r>
          </a:p>
        </p:txBody>
      </p:sp>
      <p:sp>
        <p:nvSpPr>
          <p:cNvPr id="5" name="TextBox 4"/>
          <p:cNvSpPr txBox="1"/>
          <p:nvPr/>
        </p:nvSpPr>
        <p:spPr>
          <a:xfrm>
            <a:off x="8458200" y="6248400"/>
            <a:ext cx="990600" cy="381000"/>
          </a:xfrm>
          <a:prstGeom prst="rect">
            <a:avLst/>
          </a:prstGeom>
          <a:noFill/>
        </p:spPr>
        <p:txBody>
          <a:bodyPr wrap="square" rtlCol="0">
            <a:spAutoFit/>
          </a:bodyPr>
          <a:lstStyle/>
          <a:p>
            <a:r>
              <a:rPr lang="en-US" dirty="0"/>
              <a:t>9</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534400" cy="584775"/>
          </a:xfrm>
          <a:prstGeom prst="rect">
            <a:avLst/>
          </a:prstGeom>
        </p:spPr>
        <p:txBody>
          <a:bodyPr wrap="square">
            <a:spAutoFit/>
          </a:bodyPr>
          <a:lstStyle/>
          <a:p>
            <a:r>
              <a:rPr lang="en-US" sz="3200" b="1" u="sng" dirty="0" smtClean="0">
                <a:latin typeface="Times New Roman" pitchFamily="18" charset="0"/>
                <a:cs typeface="Times New Roman" pitchFamily="18" charset="0"/>
              </a:rPr>
              <a:t>References</a:t>
            </a:r>
            <a:endParaRPr lang="en-US" sz="2400" b="1" u="sng" dirty="0">
              <a:latin typeface="Times New Roman" pitchFamily="18" charset="0"/>
              <a:cs typeface="Times New Roman" pitchFamily="18" charset="0"/>
            </a:endParaRPr>
          </a:p>
        </p:txBody>
      </p:sp>
      <p:sp>
        <p:nvSpPr>
          <p:cNvPr id="3" name="Rectangle 2"/>
          <p:cNvSpPr/>
          <p:nvPr/>
        </p:nvSpPr>
        <p:spPr>
          <a:xfrm>
            <a:off x="457200" y="1219200"/>
            <a:ext cx="8305800" cy="3354765"/>
          </a:xfrm>
          <a:prstGeom prst="rect">
            <a:avLst/>
          </a:prstGeom>
        </p:spPr>
        <p:txBody>
          <a:bodyPr wrap="square">
            <a:spAutoFit/>
          </a:bodyPr>
          <a:lstStyle/>
          <a:p>
            <a:pPr>
              <a:buFont typeface="Arial" pitchFamily="34" charset="0"/>
              <a:buChar char="•"/>
            </a:pPr>
            <a:r>
              <a:rPr lang="en-US" sz="2000" dirty="0" smtClean="0">
                <a:latin typeface="Times New Roman" pitchFamily="18" charset="0"/>
                <a:cs typeface="Times New Roman" pitchFamily="18" charset="0"/>
              </a:rPr>
              <a:t> </a:t>
            </a:r>
            <a:r>
              <a:rPr lang="en-US" sz="1600" dirty="0">
                <a:latin typeface="Arial" pitchFamily="34" charset="0"/>
                <a:cs typeface="Arial" pitchFamily="34" charset="0"/>
              </a:rPr>
              <a:t>Bedford J, </a:t>
            </a:r>
            <a:r>
              <a:rPr lang="en-US" sz="1600" dirty="0" err="1">
                <a:latin typeface="Arial" pitchFamily="34" charset="0"/>
                <a:cs typeface="Arial" pitchFamily="34" charset="0"/>
              </a:rPr>
              <a:t>Enria</a:t>
            </a:r>
            <a:r>
              <a:rPr lang="en-US" sz="1600" dirty="0">
                <a:latin typeface="Arial" pitchFamily="34" charset="0"/>
                <a:cs typeface="Arial" pitchFamily="34" charset="0"/>
              </a:rPr>
              <a:t> D, </a:t>
            </a:r>
            <a:r>
              <a:rPr lang="en-US" sz="1600" dirty="0" err="1">
                <a:latin typeface="Arial" pitchFamily="34" charset="0"/>
                <a:cs typeface="Arial" pitchFamily="34" charset="0"/>
              </a:rPr>
              <a:t>Giesecke</a:t>
            </a:r>
            <a:r>
              <a:rPr lang="en-US" sz="1600" dirty="0">
                <a:latin typeface="Arial" pitchFamily="34" charset="0"/>
                <a:cs typeface="Arial" pitchFamily="34" charset="0"/>
              </a:rPr>
              <a:t> J, </a:t>
            </a:r>
            <a:r>
              <a:rPr lang="en-US" sz="1600" dirty="0" err="1">
                <a:latin typeface="Arial" pitchFamily="34" charset="0"/>
                <a:cs typeface="Arial" pitchFamily="34" charset="0"/>
              </a:rPr>
              <a:t>Heymann</a:t>
            </a:r>
            <a:r>
              <a:rPr lang="en-US" sz="1600" dirty="0">
                <a:latin typeface="Arial" pitchFamily="34" charset="0"/>
                <a:cs typeface="Arial" pitchFamily="34" charset="0"/>
              </a:rPr>
              <a:t> DL, </a:t>
            </a:r>
            <a:r>
              <a:rPr lang="en-US" sz="1600" dirty="0" err="1">
                <a:latin typeface="Arial" pitchFamily="34" charset="0"/>
                <a:cs typeface="Arial" pitchFamily="34" charset="0"/>
              </a:rPr>
              <a:t>Ihekweazu</a:t>
            </a:r>
            <a:r>
              <a:rPr lang="en-US" sz="1600" dirty="0">
                <a:latin typeface="Arial" pitchFamily="34" charset="0"/>
                <a:cs typeface="Arial" pitchFamily="34" charset="0"/>
              </a:rPr>
              <a:t> C, </a:t>
            </a:r>
            <a:r>
              <a:rPr lang="en-US" sz="1600" dirty="0" err="1">
                <a:latin typeface="Arial" pitchFamily="34" charset="0"/>
                <a:cs typeface="Arial" pitchFamily="34" charset="0"/>
              </a:rPr>
              <a:t>Kobinger</a:t>
            </a:r>
            <a:r>
              <a:rPr lang="en-US" sz="1600" dirty="0">
                <a:latin typeface="Arial" pitchFamily="34" charset="0"/>
                <a:cs typeface="Arial" pitchFamily="34" charset="0"/>
              </a:rPr>
              <a:t> G, et al. COVID-19: towards controlling of a</a:t>
            </a:r>
          </a:p>
          <a:p>
            <a:r>
              <a:rPr lang="en-US" sz="1600" dirty="0">
                <a:latin typeface="Arial" pitchFamily="34" charset="0"/>
                <a:cs typeface="Arial" pitchFamily="34" charset="0"/>
              </a:rPr>
              <a:t>pandemic. The Lancet 2020 Mar;395(10229):1015-1018. [</a:t>
            </a:r>
            <a:r>
              <a:rPr lang="en-US" sz="1600" dirty="0" err="1">
                <a:latin typeface="Arial" pitchFamily="34" charset="0"/>
                <a:cs typeface="Arial" pitchFamily="34" charset="0"/>
              </a:rPr>
              <a:t>doi</a:t>
            </a:r>
            <a:r>
              <a:rPr lang="en-US" sz="1600" dirty="0">
                <a:latin typeface="Arial" pitchFamily="34" charset="0"/>
                <a:cs typeface="Arial" pitchFamily="34" charset="0"/>
              </a:rPr>
              <a:t>: 10.1016/s0140-6736(20)30673-5</a:t>
            </a:r>
            <a:r>
              <a:rPr lang="en-US" sz="1600" dirty="0" smtClean="0">
                <a:latin typeface="Arial" pitchFamily="34" charset="0"/>
                <a:cs typeface="Arial" pitchFamily="34" charset="0"/>
              </a:rPr>
              <a:t>]</a:t>
            </a:r>
          </a:p>
          <a:p>
            <a:endParaRPr lang="en-US" sz="1600" dirty="0" smtClean="0">
              <a:latin typeface="Arial" pitchFamily="34" charset="0"/>
              <a:cs typeface="Arial" pitchFamily="34" charset="0"/>
            </a:endParaRPr>
          </a:p>
          <a:p>
            <a:pPr>
              <a:buFont typeface="Arial" pitchFamily="34" charset="0"/>
              <a:buChar char="•"/>
            </a:pPr>
            <a:r>
              <a:rPr lang="en-US" sz="1600" dirty="0" err="1">
                <a:latin typeface="Arial" pitchFamily="34" charset="0"/>
                <a:cs typeface="Arial" pitchFamily="34" charset="0"/>
              </a:rPr>
              <a:t>Aurelie</a:t>
            </a:r>
            <a:r>
              <a:rPr lang="en-US" sz="1600" dirty="0">
                <a:latin typeface="Arial" pitchFamily="34" charset="0"/>
                <a:cs typeface="Arial" pitchFamily="34" charset="0"/>
              </a:rPr>
              <a:t> Fischer, </a:t>
            </a:r>
            <a:r>
              <a:rPr lang="en-US" sz="1600" dirty="0" err="1">
                <a:latin typeface="Arial" pitchFamily="34" charset="0"/>
                <a:cs typeface="Arial" pitchFamily="34" charset="0"/>
              </a:rPr>
              <a:t>MSc</a:t>
            </a:r>
            <a:r>
              <a:rPr lang="en-US" sz="1600" dirty="0">
                <a:latin typeface="Arial" pitchFamily="34" charset="0"/>
                <a:cs typeface="Arial" pitchFamily="34" charset="0"/>
              </a:rPr>
              <a:t>; </a:t>
            </a:r>
            <a:r>
              <a:rPr lang="en-US" sz="1600" dirty="0" err="1">
                <a:latin typeface="Arial" pitchFamily="34" charset="0"/>
                <a:cs typeface="Arial" pitchFamily="34" charset="0"/>
              </a:rPr>
              <a:t>Abir</a:t>
            </a:r>
            <a:r>
              <a:rPr lang="en-US" sz="1600" dirty="0">
                <a:latin typeface="Arial" pitchFamily="34" charset="0"/>
                <a:cs typeface="Arial" pitchFamily="34" charset="0"/>
              </a:rPr>
              <a:t> </a:t>
            </a:r>
            <a:r>
              <a:rPr lang="en-US" sz="1600" dirty="0" err="1">
                <a:latin typeface="Arial" pitchFamily="34" charset="0"/>
                <a:cs typeface="Arial" pitchFamily="34" charset="0"/>
              </a:rPr>
              <a:t>Elbeji</a:t>
            </a:r>
            <a:r>
              <a:rPr lang="en-US" sz="1600" dirty="0">
                <a:latin typeface="Arial" pitchFamily="34" charset="0"/>
                <a:cs typeface="Arial" pitchFamily="34" charset="0"/>
              </a:rPr>
              <a:t>, </a:t>
            </a:r>
            <a:r>
              <a:rPr lang="en-US" sz="1600" dirty="0" err="1">
                <a:latin typeface="Arial" pitchFamily="34" charset="0"/>
                <a:cs typeface="Arial" pitchFamily="34" charset="0"/>
              </a:rPr>
              <a:t>MSc</a:t>
            </a:r>
            <a:r>
              <a:rPr lang="en-US" sz="1600" dirty="0">
                <a:latin typeface="Arial" pitchFamily="34" charset="0"/>
                <a:cs typeface="Arial" pitchFamily="34" charset="0"/>
              </a:rPr>
              <a:t>; Gloria </a:t>
            </a:r>
            <a:r>
              <a:rPr lang="en-US" sz="1600" dirty="0" err="1">
                <a:latin typeface="Arial" pitchFamily="34" charset="0"/>
                <a:cs typeface="Arial" pitchFamily="34" charset="0"/>
              </a:rPr>
              <a:t>Aguayo</a:t>
            </a:r>
            <a:r>
              <a:rPr lang="en-US" sz="1600" dirty="0">
                <a:latin typeface="Arial" pitchFamily="34" charset="0"/>
                <a:cs typeface="Arial" pitchFamily="34" charset="0"/>
              </a:rPr>
              <a:t>, MD, PhD; Guy </a:t>
            </a:r>
            <a:r>
              <a:rPr lang="en-US" sz="1600" dirty="0" err="1">
                <a:latin typeface="Arial" pitchFamily="34" charset="0"/>
                <a:cs typeface="Arial" pitchFamily="34" charset="0"/>
              </a:rPr>
              <a:t>Fagherazzi</a:t>
            </a:r>
            <a:r>
              <a:rPr lang="en-US" sz="1600" dirty="0">
                <a:latin typeface="Arial" pitchFamily="34" charset="0"/>
                <a:cs typeface="Arial" pitchFamily="34" charset="0"/>
              </a:rPr>
              <a:t>, </a:t>
            </a:r>
            <a:r>
              <a:rPr lang="en-US" sz="1600" dirty="0" smtClean="0">
                <a:latin typeface="Arial" pitchFamily="34" charset="0"/>
                <a:cs typeface="Arial" pitchFamily="34" charset="0"/>
              </a:rPr>
              <a:t>PhD </a:t>
            </a:r>
            <a:r>
              <a:rPr lang="pt-BR" sz="1600" dirty="0">
                <a:latin typeface="Arial" pitchFamily="34" charset="0"/>
                <a:cs typeface="Arial" pitchFamily="34" charset="0"/>
              </a:rPr>
              <a:t>(Interact J Med Res 2022;11(2):e40655) doi: </a:t>
            </a:r>
            <a:r>
              <a:rPr lang="pt-BR" sz="1600" dirty="0" smtClean="0">
                <a:latin typeface="Arial" pitchFamily="34" charset="0"/>
                <a:cs typeface="Arial" pitchFamily="34" charset="0"/>
              </a:rPr>
              <a:t>10.2196/40655</a:t>
            </a:r>
          </a:p>
          <a:p>
            <a:pPr>
              <a:buFont typeface="Arial" pitchFamily="34" charset="0"/>
              <a:buChar char="•"/>
            </a:pPr>
            <a:endParaRPr lang="pt-BR" sz="1600" dirty="0">
              <a:latin typeface="Arial" pitchFamily="34" charset="0"/>
              <a:cs typeface="Arial" pitchFamily="34" charset="0"/>
            </a:endParaRPr>
          </a:p>
          <a:p>
            <a:pPr>
              <a:buFont typeface="Arial" pitchFamily="34" charset="0"/>
              <a:buChar char="•"/>
            </a:pPr>
            <a:r>
              <a:rPr lang="pt-BR" sz="1600" dirty="0" smtClean="0">
                <a:latin typeface="Arial" pitchFamily="34" charset="0"/>
                <a:cs typeface="Arial" pitchFamily="34" charset="0"/>
              </a:rPr>
              <a:t> </a:t>
            </a:r>
            <a:r>
              <a:rPr lang="en-US" sz="1600" dirty="0" err="1">
                <a:latin typeface="Arial" pitchFamily="34" charset="0"/>
                <a:cs typeface="Arial" pitchFamily="34" charset="0"/>
              </a:rPr>
              <a:t>Jaskanwal</a:t>
            </a:r>
            <a:r>
              <a:rPr lang="en-US" sz="1600" dirty="0">
                <a:latin typeface="Arial" pitchFamily="34" charset="0"/>
                <a:cs typeface="Arial" pitchFamily="34" charset="0"/>
              </a:rPr>
              <a:t> Deep Singh Sara, </a:t>
            </a:r>
            <a:r>
              <a:rPr lang="en-US" sz="1600" dirty="0" err="1">
                <a:latin typeface="Arial" pitchFamily="34" charset="0"/>
                <a:cs typeface="Arial" pitchFamily="34" charset="0"/>
              </a:rPr>
              <a:t>MBChB</a:t>
            </a:r>
            <a:r>
              <a:rPr lang="en-US" sz="1600" dirty="0">
                <a:latin typeface="Arial" pitchFamily="34" charset="0"/>
                <a:cs typeface="Arial" pitchFamily="34" charset="0"/>
              </a:rPr>
              <a:t>, Diana </a:t>
            </a:r>
            <a:r>
              <a:rPr lang="en-US" sz="1600" dirty="0" err="1">
                <a:latin typeface="Arial" pitchFamily="34" charset="0"/>
                <a:cs typeface="Arial" pitchFamily="34" charset="0"/>
              </a:rPr>
              <a:t>Orbelo</a:t>
            </a:r>
            <a:r>
              <a:rPr lang="en-US" sz="1600" dirty="0">
                <a:latin typeface="Arial" pitchFamily="34" charset="0"/>
                <a:cs typeface="Arial" pitchFamily="34" charset="0"/>
              </a:rPr>
              <a:t>, PhD, </a:t>
            </a:r>
            <a:r>
              <a:rPr lang="en-US" sz="1600" dirty="0" err="1">
                <a:latin typeface="Arial" pitchFamily="34" charset="0"/>
                <a:cs typeface="Arial" pitchFamily="34" charset="0"/>
              </a:rPr>
              <a:t>Elad</a:t>
            </a:r>
            <a:r>
              <a:rPr lang="en-US" sz="1600" dirty="0">
                <a:latin typeface="Arial" pitchFamily="34" charset="0"/>
                <a:cs typeface="Arial" pitchFamily="34" charset="0"/>
              </a:rPr>
              <a:t> </a:t>
            </a:r>
            <a:r>
              <a:rPr lang="en-US" sz="1600" dirty="0" err="1">
                <a:latin typeface="Arial" pitchFamily="34" charset="0"/>
                <a:cs typeface="Arial" pitchFamily="34" charset="0"/>
              </a:rPr>
              <a:t>Maor</a:t>
            </a:r>
            <a:r>
              <a:rPr lang="en-US" sz="1600" dirty="0">
                <a:latin typeface="Arial" pitchFamily="34" charset="0"/>
                <a:cs typeface="Arial" pitchFamily="34" charset="0"/>
              </a:rPr>
              <a:t>, MD, PhD, </a:t>
            </a:r>
            <a:r>
              <a:rPr lang="en-US" sz="1600" dirty="0" err="1">
                <a:latin typeface="Arial" pitchFamily="34" charset="0"/>
                <a:cs typeface="Arial" pitchFamily="34" charset="0"/>
              </a:rPr>
              <a:t>Lilach</a:t>
            </a:r>
            <a:r>
              <a:rPr lang="en-US" sz="1600" dirty="0">
                <a:latin typeface="Arial" pitchFamily="34" charset="0"/>
                <a:cs typeface="Arial" pitchFamily="34" charset="0"/>
              </a:rPr>
              <a:t> O. </a:t>
            </a:r>
            <a:r>
              <a:rPr lang="en-US" sz="1600" dirty="0" err="1">
                <a:latin typeface="Arial" pitchFamily="34" charset="0"/>
                <a:cs typeface="Arial" pitchFamily="34" charset="0"/>
              </a:rPr>
              <a:t>Lerman</a:t>
            </a:r>
            <a:r>
              <a:rPr lang="en-US" sz="1600" dirty="0">
                <a:latin typeface="Arial" pitchFamily="34" charset="0"/>
                <a:cs typeface="Arial" pitchFamily="34" charset="0"/>
              </a:rPr>
              <a:t>, MD, PhD, Amir </a:t>
            </a:r>
            <a:r>
              <a:rPr lang="en-US" sz="1600" dirty="0" err="1">
                <a:latin typeface="Arial" pitchFamily="34" charset="0"/>
                <a:cs typeface="Arial" pitchFamily="34" charset="0"/>
              </a:rPr>
              <a:t>Lerman</a:t>
            </a:r>
            <a:r>
              <a:rPr lang="en-US" sz="1600" dirty="0">
                <a:latin typeface="Arial" pitchFamily="34" charset="0"/>
                <a:cs typeface="Arial" pitchFamily="34" charset="0"/>
              </a:rPr>
              <a:t>, </a:t>
            </a:r>
            <a:r>
              <a:rPr lang="en-US" sz="1600" dirty="0" smtClean="0">
                <a:latin typeface="Arial" pitchFamily="34" charset="0"/>
                <a:cs typeface="Arial" pitchFamily="34" charset="0"/>
              </a:rPr>
              <a:t>MD: </a:t>
            </a:r>
            <a:r>
              <a:rPr lang="en-US" sz="1600" i="1" dirty="0">
                <a:latin typeface="Arial" pitchFamily="34" charset="0"/>
                <a:cs typeface="Arial" pitchFamily="34" charset="0"/>
              </a:rPr>
              <a:t>Mayo Clinic Proceedings </a:t>
            </a:r>
            <a:r>
              <a:rPr lang="en-US" sz="1600" i="1" dirty="0" smtClean="0">
                <a:latin typeface="Arial" pitchFamily="34" charset="0"/>
                <a:cs typeface="Arial" pitchFamily="34" charset="0"/>
              </a:rPr>
              <a:t>:</a:t>
            </a:r>
            <a:r>
              <a:rPr lang="en-US" sz="1600" dirty="0">
                <a:latin typeface="Arial" pitchFamily="34" charset="0"/>
                <a:cs typeface="Arial" pitchFamily="34" charset="0"/>
              </a:rPr>
              <a:t> S0025-6196(23)00130-1 </a:t>
            </a:r>
            <a:endParaRPr lang="en-US" sz="1600" dirty="0" smtClean="0">
              <a:latin typeface="Arial" pitchFamily="34" charset="0"/>
              <a:cs typeface="Arial" pitchFamily="34" charset="0"/>
            </a:endParaRPr>
          </a:p>
          <a:p>
            <a:pPr>
              <a:buFont typeface="Arial" pitchFamily="34" charset="0"/>
              <a:buChar char="•"/>
            </a:pPr>
            <a:endParaRPr lang="en-US" sz="1600" dirty="0">
              <a:latin typeface="Arial" pitchFamily="34" charset="0"/>
              <a:cs typeface="Arial" pitchFamily="34" charset="0"/>
            </a:endParaRPr>
          </a:p>
          <a:p>
            <a:endParaRPr lang="en-US" sz="1600" dirty="0">
              <a:latin typeface="Arial" pitchFamily="34" charset="0"/>
              <a:cs typeface="Arial" pitchFamily="34" charset="0"/>
            </a:endParaRPr>
          </a:p>
        </p:txBody>
      </p:sp>
      <p:sp>
        <p:nvSpPr>
          <p:cNvPr id="4" name="TextBox 3"/>
          <p:cNvSpPr txBox="1"/>
          <p:nvPr/>
        </p:nvSpPr>
        <p:spPr>
          <a:xfrm>
            <a:off x="8458200" y="6248400"/>
            <a:ext cx="990600" cy="381000"/>
          </a:xfrm>
          <a:prstGeom prst="rect">
            <a:avLst/>
          </a:prstGeom>
          <a:noFill/>
        </p:spPr>
        <p:txBody>
          <a:bodyPr wrap="square" rtlCol="0">
            <a:spAutoFit/>
          </a:bodyPr>
          <a:lstStyle/>
          <a:p>
            <a:r>
              <a:rPr lang="en-US" dirty="0" smtClean="0"/>
              <a:t>10</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95600"/>
            <a:ext cx="9144000" cy="1938992"/>
          </a:xfrm>
          <a:prstGeom prst="rect">
            <a:avLst/>
          </a:prstGeom>
        </p:spPr>
        <p:txBody>
          <a:bodyPr wrap="square">
            <a:spAutoFit/>
          </a:bodyPr>
          <a:lstStyle/>
          <a:p>
            <a:pPr algn="ctr"/>
            <a:r>
              <a:rPr lang="en-US" sz="3200" b="1" dirty="0" smtClean="0">
                <a:solidFill>
                  <a:srgbClr val="C00000"/>
                </a:solidFill>
                <a:latin typeface="Times New Roman" pitchFamily="18" charset="0"/>
                <a:cs typeface="Times New Roman" pitchFamily="18" charset="0"/>
              </a:rPr>
              <a:t>THANK YOU!</a:t>
            </a:r>
          </a:p>
          <a:p>
            <a:pPr algn="ctr"/>
            <a:endParaRPr lang="en-US" sz="3200" b="1" dirty="0" smtClean="0">
              <a:solidFill>
                <a:srgbClr val="C00000"/>
              </a:solidFill>
              <a:latin typeface="Times New Roman" pitchFamily="18" charset="0"/>
              <a:cs typeface="Times New Roman" pitchFamily="18" charset="0"/>
            </a:endParaRPr>
          </a:p>
          <a:p>
            <a:pPr algn="ctr"/>
            <a:endParaRPr lang="en-US" sz="3200" b="1" dirty="0">
              <a:solidFill>
                <a:srgbClr val="C00000"/>
              </a:solidFill>
              <a:latin typeface="Times New Roman" pitchFamily="18" charset="0"/>
              <a:cs typeface="Times New Roman" pitchFamily="18" charset="0"/>
            </a:endParaRPr>
          </a:p>
          <a:p>
            <a:pPr algn="ctr"/>
            <a:endParaRPr lang="en-US" sz="2400" b="1"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5819</TotalTime>
  <Words>569</Words>
  <Application>Microsoft Office PowerPoint</Application>
  <PresentationFormat>On-screen Show (4:3)</PresentationFormat>
  <Paragraphs>114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10</cp:revision>
  <dcterms:created xsi:type="dcterms:W3CDTF">2026-03-03T17:16:05Z</dcterms:created>
  <dcterms:modified xsi:type="dcterms:W3CDTF">2026-04-07T04:05:26Z</dcterms:modified>
</cp:coreProperties>
</file>